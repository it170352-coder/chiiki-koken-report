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1944000"/>
          </a:xfrm>
          <a:prstGeom prst="rect">
            <a:avLst/>
          </a:prstGeom>
          <a:solidFill>
            <a:srgbClr val="2C8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0000" y="1224000"/>
            <a:ext cx="1980000" cy="1980000"/>
          </a:xfrm>
          <a:prstGeom prst="ellipse">
            <a:avLst/>
          </a:prstGeom>
          <a:solidFill>
            <a:srgbClr val="409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2000" y="251999"/>
            <a:ext cx="468000" cy="468000"/>
          </a:xfrm>
          <a:prstGeom prst="roundRect">
            <a:avLst>
              <a:gd name="adj" fmla="val 30000"/>
            </a:avLst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2592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Hiragino Sans"/>
              </a:rPr>
              <a:t>TB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000" y="223200"/>
            <a:ext cx="32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Hiragino Sans"/>
              </a:rPr>
              <a:t>Takatsuki 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 spc="150">
                <a:solidFill>
                  <a:srgbClr val="CFDDD4"/>
                </a:solidFill>
                <a:latin typeface="Hiragino Sans"/>
              </a:rPr>
              <a:t>TAKATSUKI LOCAL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306000"/>
            <a:ext cx="2448000" cy="306000"/>
          </a:xfrm>
          <a:prstGeom prst="roundRect">
            <a:avLst>
              <a:gd name="adj" fmla="val 50000"/>
            </a:avLst>
          </a:prstGeom>
          <a:solidFill>
            <a:srgbClr val="3C9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309600"/>
            <a:ext cx="244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Hiragino Sans"/>
              </a:rPr>
              <a:t>高槻のお店・人・イベントをつなぐ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827999"/>
            <a:ext cx="6696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700" b="1">
                <a:solidFill>
                  <a:srgbClr val="FFFFFF"/>
                </a:solidFill>
                <a:latin typeface="Hiragino Sans"/>
              </a:rPr>
              <a:t>高槻の</a:t>
            </a:r>
            <a:r>
              <a:rPr sz="2700" b="1">
                <a:solidFill>
                  <a:srgbClr val="F2A279"/>
                </a:solidFill>
                <a:latin typeface="Hiragino Sans"/>
              </a:rPr>
              <a:t>「知りたい」</a:t>
            </a:r>
            <a:r>
              <a:rPr sz="2700" b="1">
                <a:solidFill>
                  <a:srgbClr val="FFFFFF"/>
                </a:solidFill>
                <a:latin typeface="Hiragino Sans"/>
              </a:rPr>
              <a:t>と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700" b="1">
                <a:solidFill>
                  <a:srgbClr val="FFD9B0"/>
                </a:solidFill>
                <a:latin typeface="Hiragino Sans"/>
              </a:rPr>
              <a:t>「伝えたい」</a:t>
            </a:r>
            <a:r>
              <a:rPr sz="2700" b="1">
                <a:solidFill>
                  <a:srgbClr val="FFFFFF"/>
                </a:solidFill>
                <a:latin typeface="Hiragino Sans"/>
              </a:rPr>
              <a:t>をつなぐ。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638000"/>
            <a:ext cx="669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地域のお店・企業・イベント情報をまとめた、高槻のための情報ポータルサイト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944000"/>
            <a:ext cx="7560000" cy="737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674800"/>
            <a:ext cx="7560000" cy="7200"/>
          </a:xfrm>
          <a:prstGeom prst="rect">
            <a:avLst/>
          </a:prstGeom>
          <a:solidFill>
            <a:srgbClr val="E6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" y="2106000"/>
            <a:ext cx="1692000" cy="378000"/>
          </a:xfrm>
          <a:prstGeom prst="roundRect">
            <a:avLst>
              <a:gd name="adj" fmla="val 25000"/>
            </a:avLst>
          </a:prstGeom>
          <a:solidFill>
            <a:srgbClr val="2C8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2109600"/>
            <a:ext cx="1692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Hiragino Sans"/>
              </a:rPr>
              <a:t>Takatsuki BASE とは？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000" y="2015999"/>
            <a:ext cx="4860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2A3B31"/>
                </a:solidFill>
                <a:latin typeface="Hiragino Sans"/>
              </a:rPr>
              <a:t>高槻市内の</a:t>
            </a:r>
            <a:r>
              <a:rPr sz="1300" b="1">
                <a:solidFill>
                  <a:srgbClr val="2C8159"/>
                </a:solidFill>
                <a:latin typeface="Hiragino Sans"/>
              </a:rPr>
              <a:t>飲食店・お店・企業・イベント・求人</a:t>
            </a:r>
            <a:r>
              <a:rPr sz="1300" b="0">
                <a:solidFill>
                  <a:srgbClr val="2A3B31"/>
                </a:solidFill>
                <a:latin typeface="Hiragino Sans"/>
              </a:rPr>
              <a:t>の情報を1か所にまとめた地域情報ポータルサイトです。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2A3B31"/>
                </a:solidFill>
                <a:latin typeface="Hiragino Sans"/>
              </a:rPr>
              <a:t>「広告を売る」のではなく、</a:t>
            </a:r>
            <a:r>
              <a:rPr sz="1300" b="1">
                <a:solidFill>
                  <a:srgbClr val="2C8159"/>
                </a:solidFill>
                <a:latin typeface="Hiragino Sans"/>
              </a:rPr>
              <a:t>みんなで高槻を盛り上げる</a:t>
            </a:r>
            <a:r>
              <a:rPr sz="1300" b="0">
                <a:solidFill>
                  <a:srgbClr val="2A3B31"/>
                </a:solidFill>
                <a:latin typeface="Hiragino Sans"/>
              </a:rPr>
              <a:t>ことを目的に運営しています。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2790000"/>
            <a:ext cx="576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1" spc="100">
                <a:solidFill>
                  <a:srgbClr val="2C8159"/>
                </a:solidFill>
                <a:latin typeface="Hiragino Sans"/>
              </a:rPr>
              <a:t>こんなお悩み、ありませんか？</a:t>
            </a:r>
            <a:r>
              <a:rPr sz="900" b="1" spc="150">
                <a:solidFill>
                  <a:srgbClr val="DB7150"/>
                </a:solidFill>
                <a:latin typeface="Hiragino Sans"/>
              </a:rPr>
              <a:t>   YOUR VOICE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024000"/>
            <a:ext cx="6696000" cy="7200"/>
          </a:xfrm>
          <a:prstGeom prst="rect">
            <a:avLst/>
          </a:prstGeom>
          <a:solidFill>
            <a:srgbClr val="E6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000" y="313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383999"/>
            <a:ext cx="342000" cy="34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2000" y="324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「いいお店なのに、まだ十分に知られていない気がする」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12000" y="313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000" y="3383999"/>
            <a:ext cx="342000" cy="342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62000" y="324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「チラシやSNSを頑張っても、新規のお客様が増えない」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92000" y="313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000" y="3383999"/>
            <a:ext cx="342000" cy="342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42000" y="324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「『高槻 ◯◯』で検索しても、うちのお店が出てこない」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412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4373999"/>
            <a:ext cx="342000" cy="34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2000" y="423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「ホームページを作る時間も、更新する余裕もない」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2000" y="412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_meg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000" y="4373999"/>
            <a:ext cx="342000" cy="342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62000" y="423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「イベントやセールの告知、どう広めればいいか分からない」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2000" y="4121999"/>
            <a:ext cx="2136000" cy="84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_u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0000" y="4373999"/>
            <a:ext cx="342000" cy="34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42000" y="4230000"/>
            <a:ext cx="1578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「求人を出しても、募集していること自体が伝わらない」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" y="5238000"/>
            <a:ext cx="61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00" b="1" spc="100">
                <a:solidFill>
                  <a:srgbClr val="2C8159"/>
                </a:solidFill>
                <a:latin typeface="Hiragino Sans"/>
              </a:rPr>
              <a:t>そのお悩み、Takatsuki BASE が解決します</a:t>
            </a:r>
            <a:r>
              <a:rPr sz="900" b="1" spc="150">
                <a:solidFill>
                  <a:srgbClr val="DB7150"/>
                </a:solidFill>
                <a:latin typeface="Hiragino Sans"/>
              </a:rPr>
              <a:t>   5 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472000"/>
            <a:ext cx="6696000" cy="7200"/>
          </a:xfrm>
          <a:prstGeom prst="rect">
            <a:avLst/>
          </a:prstGeom>
          <a:solidFill>
            <a:srgbClr val="E6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2000" y="5598000"/>
            <a:ext cx="1238400" cy="1475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" y="5598000"/>
            <a:ext cx="1238400" cy="36000"/>
          </a:xfrm>
          <a:prstGeom prst="rect">
            <a:avLst/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5200" y="5759999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_p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200" y="5850000"/>
            <a:ext cx="251999" cy="2519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5999" y="6263999"/>
            <a:ext cx="113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地域の人に知ってもらえる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999" y="6623999"/>
            <a:ext cx="1130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高槻に住む人・働く人へお店を届ける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96400" y="5598000"/>
            <a:ext cx="1238400" cy="1475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96400" y="5598000"/>
            <a:ext cx="1238400" cy="36000"/>
          </a:xfrm>
          <a:prstGeom prst="rect">
            <a:avLst/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199600" y="5759999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m_se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9600" y="5850000"/>
            <a:ext cx="251999" cy="25199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50400" y="6263999"/>
            <a:ext cx="113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SNSの外の層へ届く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0400" y="6623999"/>
            <a:ext cx="1130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SNSを見ない世代・新規のお客様にも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60800" y="5598000"/>
            <a:ext cx="1238400" cy="1475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0800" y="5598000"/>
            <a:ext cx="1238400" cy="36000"/>
          </a:xfrm>
          <a:prstGeom prst="rect">
            <a:avLst/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64000" y="5759999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000" y="5850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214800" y="6263999"/>
            <a:ext cx="113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Google検索から来店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14800" y="6623999"/>
            <a:ext cx="1130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「高槻 ◯◯」で見つけてもらえる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25200" y="5598000"/>
            <a:ext cx="1238400" cy="1475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25200" y="5598000"/>
            <a:ext cx="1238400" cy="36000"/>
          </a:xfrm>
          <a:prstGeom prst="rect">
            <a:avLst/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928400" y="5759999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_ta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400" y="5850000"/>
            <a:ext cx="251999" cy="25199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579200" y="6263999"/>
            <a:ext cx="113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イベント・セール告知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9200" y="6623999"/>
            <a:ext cx="1130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新メニューや催しを自由に発信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89600" y="5598000"/>
            <a:ext cx="1238400" cy="1475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89600" y="5598000"/>
            <a:ext cx="1238400" cy="36000"/>
          </a:xfrm>
          <a:prstGeom prst="rect">
            <a:avLst/>
          </a:prstGeom>
          <a:solidFill>
            <a:srgbClr val="DB7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92800" y="5759999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_brie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800" y="5850000"/>
            <a:ext cx="251999" cy="25199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943600" y="6263999"/>
            <a:ext cx="113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>
                <a:solidFill>
                  <a:srgbClr val="2A3B31"/>
                </a:solidFill>
                <a:latin typeface="Hiragino Sans"/>
              </a:rPr>
              <a:t>求人も掲載できる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6623999"/>
            <a:ext cx="11304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スタッフ募集・採用にも役立つ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7200000"/>
            <a:ext cx="7560000" cy="3078000"/>
          </a:xfrm>
          <a:prstGeom prst="rect">
            <a:avLst/>
          </a:prstGeom>
          <a:solidFill>
            <a:srgbClr val="2C8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2000" y="7416000"/>
            <a:ext cx="50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Hiragino Sans"/>
              </a:rPr>
              <a:t>まずは</a:t>
            </a:r>
            <a:r>
              <a:rPr sz="1900" b="1">
                <a:solidFill>
                  <a:srgbClr val="FFD9B0"/>
                </a:solidFill>
                <a:latin typeface="Hiragino Sans"/>
              </a:rPr>
              <a:t>無料</a:t>
            </a:r>
            <a:r>
              <a:rPr sz="1900" b="1">
                <a:solidFill>
                  <a:srgbClr val="FFFFFF"/>
                </a:solidFill>
                <a:latin typeface="Hiragino Sans"/>
              </a:rPr>
              <a:t>で、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Hiragino Sans"/>
              </a:rPr>
              <a:t>掲載の相談から始めませんか？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2000" y="8280000"/>
            <a:ext cx="4752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>
                <a:solidFill>
                  <a:srgbClr val="DFE9E2"/>
                </a:solidFill>
                <a:latin typeface="Hiragino Sans"/>
              </a:rPr>
              <a:t>資料作成や掲載内容の整理もこちらでサポートします。「話だけ聞いてみたい」も大歓迎です。お気軽にご相談ください。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000" y="9000000"/>
            <a:ext cx="324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1">
                <a:solidFill>
                  <a:srgbClr val="DB7150"/>
                </a:solidFill>
                <a:latin typeface="Hiragino Sans"/>
              </a:rPr>
              <a:t>運営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2000" y="9000000"/>
            <a:ext cx="2160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Hiragino Sans"/>
              </a:rPr>
              <a:t>株式会社RaidQ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51999" y="9000000"/>
            <a:ext cx="324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1">
                <a:solidFill>
                  <a:srgbClr val="DB7150"/>
                </a:solidFill>
                <a:latin typeface="Hiragino Sans"/>
              </a:rPr>
              <a:t>WEB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1999" y="9000000"/>
            <a:ext cx="2160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Hiragino Sans"/>
              </a:rPr>
              <a:t>takatsuki-base-portal.vercel.app</a:t>
            </a:r>
          </a:p>
        </p:txBody>
      </p:sp>
      <p:pic>
        <p:nvPicPr>
          <p:cNvPr id="76" name="Picture 75" descr="mai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999" y="9360000"/>
            <a:ext cx="198000" cy="198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792000" y="9342000"/>
            <a:ext cx="2160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Hiragino Sans"/>
              </a:rPr>
              <a:t>info@raidq.jp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00000" y="7560000"/>
            <a:ext cx="1655999" cy="194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LINEのQRコード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8000" y="7740000"/>
            <a:ext cx="1260000" cy="1260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400000" y="9090000"/>
            <a:ext cx="1655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50" b="1">
                <a:solidFill>
                  <a:srgbClr val="2C8159"/>
                </a:solidFill>
                <a:latin typeface="Hiragino Sans"/>
              </a:rPr>
              <a:t>LINEで気軽にご相談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10278000"/>
            <a:ext cx="7560000" cy="413999"/>
          </a:xfrm>
          <a:prstGeom prst="rect">
            <a:avLst/>
          </a:prstGeom>
          <a:solidFill>
            <a:srgbClr val="1F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2000" y="10278000"/>
            <a:ext cx="4320000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C6D4CC"/>
                </a:solidFill>
                <a:latin typeface="Hiragino Sans"/>
              </a:rPr>
              <a:t>Takatsuki BASE ｜ 高槻のお店・人・イベントをつなぐ地域情報ポータル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40000" y="10278000"/>
            <a:ext cx="2988000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850" b="0">
                <a:solidFill>
                  <a:srgbClr val="C6D4CC"/>
                </a:solidFill>
                <a:latin typeface="Hiragino Sans"/>
              </a:rPr>
              <a:t>※ロゴは仮の表記です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