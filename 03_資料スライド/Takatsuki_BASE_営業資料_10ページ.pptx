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78240" y="-1554480"/>
            <a:ext cx="5943600" cy="5943600"/>
          </a:xfrm>
          <a:prstGeom prst="ellipse">
            <a:avLst/>
          </a:prstGeom>
          <a:solidFill>
            <a:srgbClr val="1B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424160" y="2011680"/>
            <a:ext cx="3840480" cy="3840480"/>
          </a:xfrm>
          <a:prstGeom prst="ellipse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0" y="5804154"/>
            <a:ext cx="1584920" cy="779526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43777" y="596874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82650" y="596874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43777" y="633450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2650" y="633450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63003" y="5449824"/>
            <a:ext cx="1219169" cy="1133856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804370" y="561441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18888" y="561441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804370" y="598017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8888" y="598017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560255" y="5945886"/>
            <a:ext cx="1463003" cy="637794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969896" y="6110478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67318" y="6110478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901342" y="5237226"/>
            <a:ext cx="1341086" cy="1346454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76846" y="5401818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732816" y="5401818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276846" y="5767578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732816" y="5767578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76846" y="6133338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732816" y="6133338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120511" y="5704941"/>
            <a:ext cx="1584920" cy="878738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564289" y="5869533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03162" y="5869533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564289" y="6235293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03162" y="6235293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583515" y="5166360"/>
            <a:ext cx="1097252" cy="1417320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890746" y="533095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263812" y="533095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890746" y="569671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63812" y="569671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890746" y="606247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263812" y="606247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558851" y="5875020"/>
            <a:ext cx="1463003" cy="708660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968491" y="603961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465913" y="603961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899937" y="5478170"/>
            <a:ext cx="1341086" cy="1105509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75441" y="564276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731411" y="564276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275441" y="600852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731411" y="6008522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119107" y="5761634"/>
            <a:ext cx="1219169" cy="822045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460474" y="592622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874992" y="592622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60474" y="629198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74992" y="6291986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1216359" y="5336438"/>
            <a:ext cx="1219169" cy="1247241"/>
          </a:xfrm>
          <a:prstGeom prst="roundRect">
            <a:avLst>
              <a:gd name="adj" fmla="val 6000"/>
            </a:avLst>
          </a:prstGeom>
          <a:solidFill>
            <a:srgbClr val="102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557727" y="5501030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972244" y="5501030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557727" y="5866790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972244" y="5866790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557727" y="6232550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1972244" y="6232550"/>
            <a:ext cx="82296" cy="118872"/>
          </a:xfrm>
          <a:prstGeom prst="rect">
            <a:avLst/>
          </a:prstGeom>
          <a:solidFill>
            <a:srgbClr val="2A55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777240" y="685800"/>
            <a:ext cx="868680" cy="868680"/>
          </a:xfrm>
          <a:prstGeom prst="roundRect">
            <a:avLst>
              <a:gd name="adj" fmla="val 3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77240" y="694944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2000" b="1">
                <a:solidFill>
                  <a:srgbClr val="FFFFFF"/>
                </a:solidFill>
                <a:latin typeface="Hiragino Sans"/>
              </a:rPr>
              <a:t>TB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810512" y="658368"/>
            <a:ext cx="6858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>
                <a:solidFill>
                  <a:srgbClr val="FFFFFF"/>
                </a:solidFill>
                <a:latin typeface="Hiragino Sans"/>
              </a:rPr>
              <a:t>Takatsuki BASE</a:t>
            </a:r>
          </a:p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spc="200">
                <a:solidFill>
                  <a:srgbClr val="B8CCC0"/>
                </a:solidFill>
                <a:latin typeface="Hiragino Sans"/>
              </a:rPr>
              <a:t>TAKATSUKI LOCAL PORTAL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22960" y="2331720"/>
            <a:ext cx="4572000" cy="566928"/>
          </a:xfrm>
          <a:prstGeom prst="roundRect">
            <a:avLst>
              <a:gd name="adj" fmla="val 50000"/>
            </a:avLst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233172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spc="50">
                <a:solidFill>
                  <a:srgbClr val="FFD9B0"/>
                </a:solidFill>
                <a:latin typeface="Hiragino Sans"/>
              </a:rPr>
              <a:t>地域共創プロジェクト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77240" y="3063240"/>
            <a:ext cx="8778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Hiragino Sans"/>
              </a:rPr>
              <a:t>高槻の</a:t>
            </a:r>
            <a:r>
              <a:rPr sz="4000" b="1">
                <a:solidFill>
                  <a:srgbClr val="E8833A"/>
                </a:solidFill>
                <a:latin typeface="Hiragino Sans"/>
              </a:rPr>
              <a:t>「知りたい」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Hiragino Sans"/>
              </a:rPr>
              <a:t>と</a:t>
            </a:r>
            <a:r>
              <a:rPr sz="4000" b="1">
                <a:solidFill>
                  <a:srgbClr val="FFD9B0"/>
                </a:solidFill>
                <a:latin typeface="Hiragino Sans"/>
              </a:rPr>
              <a:t>「伝えたい」</a:t>
            </a:r>
            <a:r>
              <a:rPr sz="4000" b="1">
                <a:solidFill>
                  <a:srgbClr val="FFFFFF"/>
                </a:solidFill>
                <a:latin typeface="Hiragino Sans"/>
              </a:rPr>
              <a:t>を、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4000" b="1">
                <a:solidFill>
                  <a:srgbClr val="FFFFFF"/>
                </a:solidFill>
                <a:latin typeface="Hiragino Sans"/>
              </a:rPr>
              <a:t>ひとつに。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57150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50" b="0" spc="30">
                <a:solidFill>
                  <a:srgbClr val="DFE9E2"/>
                </a:solidFill>
                <a:latin typeface="Hiragino Sans"/>
              </a:rPr>
              <a:t>高槻のお店・企業・イベントをつなぐ、地域情報プラットフォーム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1F5C3D"/>
                </a:solidFill>
                <a:latin typeface="Hiragino Sans"/>
              </a:rPr>
              <a:t>高槻の地域情報は、もっとつながれる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BACKGROUND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2C3A30"/>
                </a:solidFill>
                <a:latin typeface="Hiragino Sans"/>
              </a:rPr>
              <a:t>便利な時代なのに、</a:t>
            </a:r>
            <a:r>
              <a:rPr sz="2600" b="1">
                <a:solidFill>
                  <a:srgbClr val="1F5C3D"/>
                </a:solidFill>
                <a:latin typeface="Hiragino Sans"/>
              </a:rPr>
              <a:t>「地元の良いお店」</a:t>
            </a:r>
            <a:r>
              <a:rPr sz="2600" b="1">
                <a:solidFill>
                  <a:srgbClr val="2C3A30"/>
                </a:solidFill>
                <a:latin typeface="Hiragino Sans"/>
              </a:rPr>
              <a:t>ほど</a:t>
            </a: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2600" b="1">
                <a:solidFill>
                  <a:srgbClr val="E8833A"/>
                </a:solidFill>
                <a:latin typeface="Hiragino Sans"/>
              </a:rPr>
              <a:t>見つけにくい</a:t>
            </a:r>
            <a:r>
              <a:rPr sz="2600" b="1">
                <a:solidFill>
                  <a:srgbClr val="2C3A30"/>
                </a:solidFill>
                <a:latin typeface="Hiragino Sans"/>
              </a:rPr>
              <a:t>──そんな状況が生まれています。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7889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12163" y="313182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2163" y="3131820"/>
            <a:ext cx="1051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>
                <a:solidFill>
                  <a:srgbClr val="2C3A30"/>
                </a:solidFill>
                <a:latin typeface="Hiragino Sans"/>
              </a:rPr>
              <a:t>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1F5C3D"/>
                </a:solidFill>
                <a:latin typeface="Hiragino Sans"/>
              </a:rPr>
              <a:t>SNSだけでは埋もれる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937760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投稿は流れて消え、過去の良い情報まで届きにくい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47287" y="27889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56531" y="313182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6531" y="3131820"/>
            <a:ext cx="1051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>
                <a:solidFill>
                  <a:srgbClr val="2C3A30"/>
                </a:solidFill>
                <a:latin typeface="Hiragino Sans"/>
              </a:rPr>
              <a:t>🗺️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434340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1F5C3D"/>
                </a:solidFill>
                <a:latin typeface="Hiragino Sans"/>
              </a:rPr>
              <a:t>知る機会が少ない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1607" y="4937760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近所にどんなお店があるか、意外と知られていない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91655" y="27889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200899" y="313182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00899" y="3131820"/>
            <a:ext cx="1051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>
                <a:solidFill>
                  <a:srgbClr val="2C3A30"/>
                </a:solidFill>
                <a:latin typeface="Hiragino Sans"/>
              </a:rPr>
              <a:t>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0255" y="434340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1F5C3D"/>
                </a:solidFill>
                <a:latin typeface="Hiragino Sans"/>
              </a:rPr>
              <a:t>新住民が探しづらい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5" y="4937760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高槻へ来たばかりの人が、地元情報にたどり着けない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36024" y="2788920"/>
            <a:ext cx="2670048" cy="3108960"/>
          </a:xfrm>
          <a:prstGeom prst="roundRect">
            <a:avLst>
              <a:gd name="adj" fmla="val 6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5268" y="313182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5268" y="3131820"/>
            <a:ext cx="10515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600" b="0">
                <a:solidFill>
                  <a:srgbClr val="2C3A30"/>
                </a:solidFill>
                <a:latin typeface="Hiragino Sans"/>
              </a:rPr>
              <a:t>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64624" y="4343400"/>
            <a:ext cx="221284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1F5C3D"/>
                </a:solidFill>
                <a:latin typeface="Hiragino Sans"/>
              </a:rPr>
              <a:t>情報が分散している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10344" y="4937760"/>
            <a:ext cx="2121408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イベント・求人・店舗情報がバラバラの場所にある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00800"/>
            <a:ext cx="6400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Takatsuki BASE</a:t>
            </a:r>
            <a:r>
              <a:rPr sz="850" b="0">
                <a:solidFill>
                  <a:srgbClr val="6F8170"/>
                </a:solidFill>
                <a:latin typeface="Hiragino Sans"/>
              </a:rPr>
              <a:t>  ｜ 高槻のお店・人・イベントをつなぐ地域情報ポータル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37215" y="6400800"/>
            <a:ext cx="1051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1F5C3D"/>
                </a:solidFill>
                <a:latin typeface="Hiragino Sans"/>
              </a:rPr>
              <a:t>地域のお店が抱える、5つの「困った」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0">
                <a:solidFill>
                  <a:srgbClr val="2C3A30"/>
                </a:solidFill>
                <a:latin typeface="Hiragino Sans"/>
              </a:rPr>
              <a:t>いいお店なのに知られていない──その背景には、共通の悩みがあります。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6118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828800"/>
            <a:ext cx="109728" cy="20574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91540" y="2007107"/>
            <a:ext cx="960120" cy="96012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1540" y="2007107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0">
                <a:solidFill>
                  <a:srgbClr val="2C3A30"/>
                </a:solidFill>
                <a:latin typeface="Hiragino Sans"/>
              </a:rPr>
              <a:t>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121408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2C3A30"/>
                </a:solidFill>
                <a:latin typeface="Hiragino Sans"/>
              </a:rPr>
              <a:t>新規のお客様が増えない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09067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リピーターは来てくれるが、新しい層に広がらない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828800"/>
            <a:ext cx="36118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9120" y="1828800"/>
            <a:ext cx="109728" cy="20574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77740" y="2007107"/>
            <a:ext cx="960120" cy="96012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77740" y="2007107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0">
                <a:solidFill>
                  <a:srgbClr val="2C3A30"/>
                </a:solidFill>
                <a:latin typeface="Hiragino Sans"/>
              </a:rPr>
              <a:t>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97879" y="2121408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2C3A30"/>
                </a:solidFill>
                <a:latin typeface="Hiragino Sans"/>
              </a:rPr>
              <a:t>SNSだけでは限界がある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09067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フォロワー以外には、なかなか情報が届かない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828800"/>
            <a:ext cx="36118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828800"/>
            <a:ext cx="109728" cy="20574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63940" y="2007107"/>
            <a:ext cx="960120" cy="96012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63940" y="2007107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0">
                <a:solidFill>
                  <a:srgbClr val="2C3A30"/>
                </a:solidFill>
                <a:latin typeface="Hiragino Sans"/>
              </a:rPr>
              <a:t>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80" y="2121408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2C3A30"/>
                </a:solidFill>
                <a:latin typeface="Hiragino Sans"/>
              </a:rPr>
              <a:t>HPの制作・更新が負担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309067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作る時間も、こまめに更新する余裕もない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14800"/>
            <a:ext cx="36118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02920" y="4114800"/>
            <a:ext cx="109728" cy="20574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1540" y="4293107"/>
            <a:ext cx="960120" cy="96012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1540" y="4293107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0">
                <a:solidFill>
                  <a:srgbClr val="2C3A30"/>
                </a:solidFill>
                <a:latin typeface="Hiragino Sans"/>
              </a:rPr>
              <a:t>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407408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2C3A30"/>
                </a:solidFill>
                <a:latin typeface="Hiragino Sans"/>
              </a:rPr>
              <a:t>告知する場所が少ない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37667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イベントやセールを、どこで広めればいいか分からない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89120" y="4114800"/>
            <a:ext cx="3611880" cy="2057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389120" y="4114800"/>
            <a:ext cx="109728" cy="2057400"/>
          </a:xfrm>
          <a:prstGeom prst="roundRect">
            <a:avLst>
              <a:gd name="adj" fmla="val 5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777740" y="4293107"/>
            <a:ext cx="960120" cy="96012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77740" y="4293107"/>
            <a:ext cx="96012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200" b="0">
                <a:solidFill>
                  <a:srgbClr val="2C3A30"/>
                </a:solidFill>
                <a:latin typeface="Hiragino Sans"/>
              </a:rPr>
              <a:t>🧑‍🍳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79" y="4407408"/>
            <a:ext cx="19202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350" b="1">
                <a:solidFill>
                  <a:srgbClr val="2C3A30"/>
                </a:solidFill>
                <a:latin typeface="Hiragino Sans"/>
              </a:rPr>
              <a:t>求人媒体は費用が高い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5376672"/>
            <a:ext cx="2880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募集を出すたびにコストがかさんでしまう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275320" y="4114800"/>
            <a:ext cx="3611880" cy="2057400"/>
          </a:xfrm>
          <a:prstGeom prst="roundRect">
            <a:avLst>
              <a:gd name="adj" fmla="val 7000"/>
            </a:avLst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86800" y="4434840"/>
            <a:ext cx="278892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Hiragino Sans"/>
              </a:rPr>
              <a:t>これ、</a:t>
            </a:r>
            <a:r>
              <a:rPr sz="1400" b="1">
                <a:solidFill>
                  <a:srgbClr val="FFD9B0"/>
                </a:solidFill>
                <a:latin typeface="Hiragino Sans"/>
              </a:rPr>
              <a:t>ひとつでも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400" b="1">
                <a:solidFill>
                  <a:srgbClr val="FFFFFF"/>
                </a:solidFill>
                <a:latin typeface="Hiragino Sans"/>
              </a:rPr>
              <a:t>当てはまりませんか？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600" b="0">
                <a:solidFill>
                  <a:srgbClr val="FFFFFF"/>
                </a:solidFill>
                <a:latin typeface="Hiragino Sans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DFE9E2"/>
                </a:solidFill>
                <a:latin typeface="Hiragino Sans"/>
              </a:rPr>
              <a:t>次のページから、解決の</a:t>
            </a:r>
          </a:p>
          <a:p>
            <a:pPr algn="l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DFE9E2"/>
                </a:solidFill>
                <a:latin typeface="Hiragino Sans"/>
              </a:rPr>
              <a:t>かたちをご紹介します。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400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Takatsuki BASE</a:t>
            </a:r>
            <a:r>
              <a:rPr sz="850" b="0">
                <a:solidFill>
                  <a:srgbClr val="6F8170"/>
                </a:solidFill>
                <a:latin typeface="Hiragino Sans"/>
              </a:rPr>
              <a:t>  ｜ 高槻のお店・人・イベントをつなぐ地域情報ポータル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37215" y="6400800"/>
            <a:ext cx="1051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3291840"/>
            <a:ext cx="5029200" cy="5029200"/>
          </a:xfrm>
          <a:prstGeom prst="ellipse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241280" y="-1645920"/>
            <a:ext cx="4206240" cy="4206240"/>
          </a:xfrm>
          <a:prstGeom prst="ellipse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548640"/>
            <a:ext cx="64008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FFD9B0"/>
                </a:solidFill>
                <a:latin typeface="Hiragino Sans"/>
              </a:rPr>
              <a:t>もし、こんな高槻になったら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111556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Hiragino Sans"/>
              </a:rPr>
              <a:t>お店・人・イベントが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3000" b="1">
                <a:solidFill>
                  <a:srgbClr val="FFD9B0"/>
                </a:solidFill>
                <a:latin typeface="Hiragino Sans"/>
              </a:rPr>
              <a:t>自然につながる</a:t>
            </a:r>
            <a:r>
              <a:rPr sz="3000" b="1">
                <a:solidFill>
                  <a:srgbClr val="FFFFFF"/>
                </a:solidFill>
                <a:latin typeface="Hiragino Sans"/>
              </a:rPr>
              <a:t>、高槻へ。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200400"/>
            <a:ext cx="2670048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335023" y="3474720"/>
            <a:ext cx="1005840" cy="100584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35023" y="347472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500" b="0">
                <a:solidFill>
                  <a:srgbClr val="2C3A30"/>
                </a:solidFill>
                <a:latin typeface="Hiragino Sans"/>
              </a:rPr>
              <a:t>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23042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1F5C3D"/>
                </a:solidFill>
                <a:latin typeface="Hiragino Sans"/>
              </a:rPr>
              <a:t>お店が見つかる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120640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地域のお店が、必要な人にちゃんと届く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7" y="3200400"/>
            <a:ext cx="2670048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279392" y="3474720"/>
            <a:ext cx="1005840" cy="100584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79392" y="347472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500" b="0">
                <a:solidFill>
                  <a:srgbClr val="2C3A30"/>
                </a:solidFill>
                <a:latin typeface="Hiragino Sans"/>
              </a:rPr>
              <a:t>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4617720"/>
            <a:ext cx="23042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1F5C3D"/>
                </a:solidFill>
                <a:latin typeface="Hiragino Sans"/>
              </a:rPr>
              <a:t>情報がすぐ探せる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1607" y="5120640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高槻で暮らす人が、知りたい情報にすぐ会える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91655" y="3200400"/>
            <a:ext cx="2670048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59" y="3474720"/>
            <a:ext cx="1005840" cy="100584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347472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500" b="0">
                <a:solidFill>
                  <a:srgbClr val="2C3A30"/>
                </a:solidFill>
                <a:latin typeface="Hiragino Sans"/>
              </a:rPr>
              <a:t>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74536" y="4617720"/>
            <a:ext cx="23042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1F5C3D"/>
                </a:solidFill>
                <a:latin typeface="Hiragino Sans"/>
              </a:rPr>
              <a:t>人とお店がつながる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65975" y="5120640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お店・人・イベントが、自然に結びつく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6024" y="3200400"/>
            <a:ext cx="2670048" cy="27432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68128" y="3474720"/>
            <a:ext cx="1005840" cy="1005840"/>
          </a:xfrm>
          <a:prstGeom prst="ellipse">
            <a:avLst/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68128" y="3474720"/>
            <a:ext cx="1005840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500" b="0">
                <a:solidFill>
                  <a:srgbClr val="2C3A30"/>
                </a:solidFill>
                <a:latin typeface="Hiragino Sans"/>
              </a:rPr>
              <a:t>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18904" y="4617720"/>
            <a:ext cx="230428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50" b="1">
                <a:solidFill>
                  <a:srgbClr val="1F5C3D"/>
                </a:solidFill>
                <a:latin typeface="Hiragino Sans"/>
              </a:rPr>
              <a:t>街が盛り上がる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0344" y="5120640"/>
            <a:ext cx="21214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地域全体に、にぎわいの循環が生まれる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1F5C3D"/>
                </a:solidFill>
                <a:latin typeface="Hiragino Sans"/>
              </a:rPr>
              <a:t>その未来をかたちにする仕組みが、これです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097280"/>
            <a:ext cx="777240" cy="777240"/>
          </a:xfrm>
          <a:prstGeom prst="roundRect">
            <a:avLst>
              <a:gd name="adj" fmla="val 3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06424"/>
            <a:ext cx="77724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700" b="1">
                <a:solidFill>
                  <a:srgbClr val="FFFFFF"/>
                </a:solidFill>
                <a:latin typeface="Hiragino Sans"/>
              </a:rPr>
              <a:t>TB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078992"/>
            <a:ext cx="548640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2200" b="1">
                <a:solidFill>
                  <a:srgbClr val="1F5C3D"/>
                </a:solidFill>
                <a:latin typeface="Hiragino Sans"/>
              </a:rPr>
              <a:t>Takatsuki BASE</a:t>
            </a:r>
          </a:p>
          <a:p>
            <a:pPr algn="l">
              <a:lnSpc>
                <a:spcPct val="110000"/>
              </a:lnSpc>
              <a:spcBef>
                <a:spcPts val="0"/>
              </a:spcBef>
            </a:pPr>
            <a:r>
              <a:rPr sz="1150" b="0">
                <a:solidFill>
                  <a:srgbClr val="6F8170"/>
                </a:solidFill>
                <a:latin typeface="Hiragino Sans"/>
              </a:rPr>
              <a:t>高槻の地域情報ポータルサイト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240280"/>
            <a:ext cx="57607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400" b="0">
                <a:solidFill>
                  <a:srgbClr val="2C3A30"/>
                </a:solidFill>
                <a:latin typeface="Hiragino Sans"/>
              </a:rPr>
              <a:t>高槻市内の</a:t>
            </a:r>
            <a:r>
              <a:rPr sz="1400" b="1">
                <a:solidFill>
                  <a:srgbClr val="1F5C3D"/>
                </a:solidFill>
                <a:latin typeface="Hiragino Sans"/>
              </a:rPr>
              <a:t>飲食店・お店・企業・イベント・求人</a:t>
            </a:r>
            <a:r>
              <a:rPr sz="1400" b="0">
                <a:solidFill>
                  <a:srgbClr val="2C3A30"/>
                </a:solidFill>
                <a:latin typeface="Hiragino Sans"/>
              </a:rPr>
              <a:t>の情報を、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400" b="0">
                <a:solidFill>
                  <a:srgbClr val="2C3A30"/>
                </a:solidFill>
                <a:latin typeface="Hiragino Sans"/>
              </a:rPr>
              <a:t>ひとつのサイトにまとめた地域情報ポータルです。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700" b="0">
                <a:solidFill>
                  <a:srgbClr val="2C3A30"/>
                </a:solidFill>
                <a:latin typeface="Hiragino Sans"/>
              </a:rPr>
              <a:t/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400" b="0">
                <a:solidFill>
                  <a:srgbClr val="2C3A30"/>
                </a:solidFill>
                <a:latin typeface="Hiragino Sans"/>
              </a:rPr>
              <a:t>「広告を売る」のではなく、</a:t>
            </a:r>
          </a:p>
          <a:p>
            <a:pPr algn="l">
              <a:lnSpc>
                <a:spcPct val="145000"/>
              </a:lnSpc>
              <a:spcBef>
                <a:spcPts val="0"/>
              </a:spcBef>
            </a:pPr>
            <a:r>
              <a:rPr sz="1400" b="1">
                <a:solidFill>
                  <a:srgbClr val="E8833A"/>
                </a:solidFill>
                <a:latin typeface="Hiragino Sans"/>
              </a:rPr>
              <a:t>みんなで高槻を盛り上げる</a:t>
            </a:r>
            <a:r>
              <a:rPr sz="1400" b="0">
                <a:solidFill>
                  <a:srgbClr val="2C3A30"/>
                </a:solidFill>
                <a:latin typeface="Hiragino Sans"/>
              </a:rPr>
              <a:t>ことを目的に運営します。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6344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91947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1F5C3D"/>
                </a:solidFill>
                <a:latin typeface="Hiragino Sans"/>
              </a:rPr>
              <a:t>集める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440679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F8170"/>
                </a:solidFill>
                <a:latin typeface="Hiragino Sans"/>
              </a:rPr>
              <a:t>地域の情報を1か所に集約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96312" y="466344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96312" y="491947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1F5C3D"/>
                </a:solidFill>
                <a:latin typeface="Hiragino Sans"/>
              </a:rPr>
              <a:t>見つける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5440679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F8170"/>
                </a:solidFill>
                <a:latin typeface="Hiragino Sans"/>
              </a:rPr>
              <a:t>住む人・働く人が探せる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9704" y="4663440"/>
            <a:ext cx="1828800" cy="141732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4919472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300" b="1">
                <a:solidFill>
                  <a:srgbClr val="1F5C3D"/>
                </a:solidFill>
                <a:latin typeface="Hiragino Sans"/>
              </a:rPr>
              <a:t>つながる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5440679"/>
            <a:ext cx="1554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</a:pPr>
            <a:r>
              <a:rPr sz="950" b="0">
                <a:solidFill>
                  <a:srgbClr val="6F8170"/>
                </a:solidFill>
                <a:latin typeface="Hiragino Sans"/>
              </a:rPr>
              <a:t>お店と人を自然に結ぶ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9646920" y="1600200"/>
            <a:ext cx="0" cy="2011680"/>
          </a:xfrm>
          <a:prstGeom prst="line">
            <a:avLst/>
          </a:prstGeom>
          <a:ln w="19050">
            <a:solidFill>
              <a:srgbClr val="D8E0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9646920" y="2743200"/>
            <a:ext cx="1828800" cy="868680"/>
          </a:xfrm>
          <a:prstGeom prst="line">
            <a:avLst/>
          </a:prstGeom>
          <a:ln w="19050">
            <a:solidFill>
              <a:srgbClr val="D8E0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646920" y="3611880"/>
            <a:ext cx="1828800" cy="868680"/>
          </a:xfrm>
          <a:prstGeom prst="line">
            <a:avLst/>
          </a:prstGeom>
          <a:ln w="19050">
            <a:solidFill>
              <a:srgbClr val="D8E0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646920" y="3611880"/>
            <a:ext cx="0" cy="2011680"/>
          </a:xfrm>
          <a:prstGeom prst="line">
            <a:avLst/>
          </a:prstGeom>
          <a:ln w="19050">
            <a:solidFill>
              <a:srgbClr val="D8E0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7818120" y="3611880"/>
            <a:ext cx="1828800" cy="868680"/>
          </a:xfrm>
          <a:prstGeom prst="line">
            <a:avLst/>
          </a:prstGeom>
          <a:ln w="19050">
            <a:solidFill>
              <a:srgbClr val="D8E0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 flipV="1">
            <a:off x="7818120" y="2743200"/>
            <a:ext cx="1828800" cy="868680"/>
          </a:xfrm>
          <a:prstGeom prst="line">
            <a:avLst/>
          </a:prstGeom>
          <a:ln w="19050">
            <a:solidFill>
              <a:srgbClr val="D8E0D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686800" y="2651760"/>
            <a:ext cx="1920240" cy="1920240"/>
          </a:xfrm>
          <a:prstGeom prst="ellipse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0" y="2651760"/>
            <a:ext cx="1920240" cy="1920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Hiragino Sans"/>
              </a:rPr>
              <a:t>Takatsuki</a:t>
            </a:r>
          </a:p>
          <a:p>
            <a:pPr algn="ctr">
              <a:lnSpc>
                <a:spcPct val="110000"/>
              </a:lnSpc>
              <a:spcBef>
                <a:spcPts val="0"/>
              </a:spcBef>
            </a:pPr>
            <a:r>
              <a:rPr sz="1250" b="1">
                <a:solidFill>
                  <a:srgbClr val="FFD9B0"/>
                </a:solidFill>
                <a:latin typeface="Hiragino Sans"/>
              </a:rPr>
              <a:t>BASE</a:t>
            </a:r>
          </a:p>
        </p:txBody>
      </p:sp>
      <p:sp>
        <p:nvSpPr>
          <p:cNvPr id="25" name="Oval 24"/>
          <p:cNvSpPr/>
          <p:nvPr/>
        </p:nvSpPr>
        <p:spPr>
          <a:xfrm>
            <a:off x="9006840" y="96012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B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96012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F5C3D"/>
                </a:solidFill>
                <a:latin typeface="Hiragino Sans"/>
              </a:rPr>
              <a:t>飲食店</a:t>
            </a:r>
          </a:p>
        </p:txBody>
      </p:sp>
      <p:sp>
        <p:nvSpPr>
          <p:cNvPr id="27" name="Oval 26"/>
          <p:cNvSpPr/>
          <p:nvPr/>
        </p:nvSpPr>
        <p:spPr>
          <a:xfrm>
            <a:off x="10835640" y="210312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B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835640" y="210312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F5C3D"/>
                </a:solidFill>
                <a:latin typeface="Hiragino Sans"/>
              </a:rPr>
              <a:t>お店</a:t>
            </a:r>
          </a:p>
        </p:txBody>
      </p:sp>
      <p:sp>
        <p:nvSpPr>
          <p:cNvPr id="29" name="Oval 28"/>
          <p:cNvSpPr/>
          <p:nvPr/>
        </p:nvSpPr>
        <p:spPr>
          <a:xfrm>
            <a:off x="10835640" y="38404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B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35640" y="384048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F5C3D"/>
                </a:solidFill>
                <a:latin typeface="Hiragino Sans"/>
              </a:rPr>
              <a:t>イベント</a:t>
            </a:r>
          </a:p>
        </p:txBody>
      </p:sp>
      <p:sp>
        <p:nvSpPr>
          <p:cNvPr id="31" name="Oval 30"/>
          <p:cNvSpPr/>
          <p:nvPr/>
        </p:nvSpPr>
        <p:spPr>
          <a:xfrm>
            <a:off x="9006840" y="49834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B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6840" y="498348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F5C3D"/>
                </a:solidFill>
                <a:latin typeface="Hiragino Sans"/>
              </a:rPr>
              <a:t>求人</a:t>
            </a:r>
          </a:p>
        </p:txBody>
      </p:sp>
      <p:sp>
        <p:nvSpPr>
          <p:cNvPr id="33" name="Oval 32"/>
          <p:cNvSpPr/>
          <p:nvPr/>
        </p:nvSpPr>
        <p:spPr>
          <a:xfrm>
            <a:off x="7178040" y="384048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B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78040" y="384048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F5C3D"/>
                </a:solidFill>
                <a:latin typeface="Hiragino Sans"/>
              </a:rPr>
              <a:t>企業</a:t>
            </a:r>
          </a:p>
        </p:txBody>
      </p:sp>
      <p:sp>
        <p:nvSpPr>
          <p:cNvPr id="35" name="Oval 34"/>
          <p:cNvSpPr/>
          <p:nvPr/>
        </p:nvSpPr>
        <p:spPr>
          <a:xfrm>
            <a:off x="7178040" y="2103120"/>
            <a:ext cx="1280160" cy="128016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8AB0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178040" y="2103120"/>
            <a:ext cx="12801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F5C3D"/>
                </a:solidFill>
                <a:latin typeface="Hiragino Sans"/>
              </a:rPr>
              <a:t>住民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00800"/>
            <a:ext cx="6400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Takatsuki BASE</a:t>
            </a:r>
            <a:r>
              <a:rPr sz="850" b="0">
                <a:solidFill>
                  <a:srgbClr val="6F8170"/>
                </a:solidFill>
                <a:latin typeface="Hiragino Sans"/>
              </a:rPr>
              <a:t>  ｜ 高槻のお店・人・イベントをつなぐ地域情報ポータル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37215" y="6400800"/>
            <a:ext cx="1051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1F5C3D"/>
                </a:solidFill>
                <a:latin typeface="Hiragino Sans"/>
              </a:rPr>
              <a:t>あなたのお店の「載せたい」を、まるごと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WHAT YOU CAN POST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0">
                <a:solidFill>
                  <a:srgbClr val="2C3A30"/>
                </a:solidFill>
                <a:latin typeface="Hiragino Sans"/>
              </a:rPr>
              <a:t>お店の魅力を伝える情報を、自由に掲載できます。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5528" y="2025395"/>
            <a:ext cx="841248" cy="8412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25395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900" b="0">
                <a:solidFill>
                  <a:srgbClr val="2C3A30"/>
                </a:solidFill>
                <a:latin typeface="Hiragino Sans"/>
              </a:rPr>
              <a:t>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29968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F5C3D"/>
                </a:solidFill>
                <a:latin typeface="Hiragino Sans"/>
              </a:rPr>
              <a:t>店舗紹介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2487168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F8170"/>
                </a:solidFill>
                <a:latin typeface="Hiragino Sans"/>
              </a:rPr>
              <a:t>お店の基本情報・こだわり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82880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590288" y="2025395"/>
            <a:ext cx="841248" cy="8412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2025395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900" b="0">
                <a:solidFill>
                  <a:srgbClr val="2C3A30"/>
                </a:solidFill>
                <a:latin typeface="Hiragino Sans"/>
              </a:rPr>
              <a:t>🍽️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23560" y="2029968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F5C3D"/>
                </a:solidFill>
                <a:latin typeface="Hiragino Sans"/>
              </a:rPr>
              <a:t>メニュー・サービス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23560" y="2487168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F8170"/>
                </a:solidFill>
                <a:latin typeface="Hiragino Sans"/>
              </a:rPr>
              <a:t>商品や提供メニューの紹介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4612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95528" y="3442715"/>
            <a:ext cx="841248" cy="8412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442715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900" b="0">
                <a:solidFill>
                  <a:srgbClr val="2C3A30"/>
                </a:solidFill>
                <a:latin typeface="Hiragino Sans"/>
              </a:rPr>
              <a:t>📷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447288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F5C3D"/>
                </a:solidFill>
                <a:latin typeface="Hiragino Sans"/>
              </a:rPr>
              <a:t>写真ギャラリー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3904487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F8170"/>
                </a:solidFill>
                <a:latin typeface="Hiragino Sans"/>
              </a:rPr>
              <a:t>店内・商品の魅力を写真で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24612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90288" y="3442715"/>
            <a:ext cx="841248" cy="8412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90288" y="3442715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900" b="0">
                <a:solidFill>
                  <a:srgbClr val="2C3A30"/>
                </a:solidFill>
                <a:latin typeface="Hiragino Sans"/>
              </a:rPr>
              <a:t>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447288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F5C3D"/>
                </a:solidFill>
                <a:latin typeface="Hiragino Sans"/>
              </a:rPr>
              <a:t>イベント・キャンペーン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23560" y="3904487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F8170"/>
                </a:solidFill>
                <a:latin typeface="Hiragino Sans"/>
              </a:rPr>
              <a:t>セールや催しの告知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6634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5528" y="4860036"/>
            <a:ext cx="841248" cy="8412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8" y="4860036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900" b="0">
                <a:solidFill>
                  <a:srgbClr val="2C3A30"/>
                </a:solidFill>
                <a:latin typeface="Hiragino Sans"/>
              </a:rPr>
              <a:t>🧑‍💼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4864607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F5C3D"/>
                </a:solidFill>
                <a:latin typeface="Hiragino Sans"/>
              </a:rPr>
              <a:t>求人募集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0" y="5321807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F8170"/>
                </a:solidFill>
                <a:latin typeface="Hiragino Sans"/>
              </a:rPr>
              <a:t>スタッフ募集の掲載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97680" y="4663440"/>
            <a:ext cx="3520440" cy="1234440"/>
          </a:xfrm>
          <a:prstGeom prst="roundRect">
            <a:avLst>
              <a:gd name="adj" fmla="val 10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590288" y="4860036"/>
            <a:ext cx="841248" cy="84124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0288" y="4860036"/>
            <a:ext cx="841248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900" b="0">
                <a:solidFill>
                  <a:srgbClr val="2C3A30"/>
                </a:solidFill>
                <a:latin typeface="Hiragino Sans"/>
              </a:rPr>
              <a:t>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864607"/>
            <a:ext cx="2057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1F5C3D"/>
                </a:solidFill>
                <a:latin typeface="Hiragino Sans"/>
              </a:rPr>
              <a:t>SNS・HP連携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23560" y="5321807"/>
            <a:ext cx="2057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F8170"/>
                </a:solidFill>
                <a:latin typeface="Hiragino Sans"/>
              </a:rPr>
              <a:t>Instagram・HPとつなぐ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86800" y="1783080"/>
            <a:ext cx="2743200" cy="4617720"/>
          </a:xfrm>
          <a:prstGeom prst="roundRect">
            <a:avLst>
              <a:gd name="adj" fmla="val 9000"/>
            </a:avLst>
          </a:prstGeom>
          <a:solidFill>
            <a:srgbClr val="222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851392" y="1947672"/>
            <a:ext cx="2414016" cy="4288536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97696" y="2093976"/>
            <a:ext cx="2121408" cy="603504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997696" y="2093976"/>
            <a:ext cx="212140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Hiragino Sans"/>
              </a:rPr>
              <a:t>Takatsuki BASE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7696" y="2743200"/>
            <a:ext cx="2121408" cy="1143000"/>
          </a:xfrm>
          <a:prstGeom prst="rect">
            <a:avLst/>
          </a:prstGeom>
          <a:solidFill>
            <a:srgbClr val="8AB0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97696" y="2743200"/>
            <a:ext cx="2121408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 spc="150">
                <a:solidFill>
                  <a:srgbClr val="FFFFFF"/>
                </a:solidFill>
                <a:latin typeface="Hiragino Sans"/>
              </a:rPr>
              <a:t>PHOTO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43416" y="3995928"/>
            <a:ext cx="202996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950" b="1">
                <a:solidFill>
                  <a:srgbClr val="2C3A30"/>
                </a:solidFill>
                <a:latin typeface="Hiragino Sans"/>
              </a:rPr>
              <a:t>◯◯ベーカリー（サンプル）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97696" y="4453128"/>
            <a:ext cx="2015337" cy="146304"/>
          </a:xfrm>
          <a:prstGeom prst="roundRect">
            <a:avLst>
              <a:gd name="adj" fmla="val 50000"/>
            </a:avLst>
          </a:prstGeom>
          <a:solidFill>
            <a:srgbClr val="D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997696" y="4745736"/>
            <a:ext cx="1633484" cy="146304"/>
          </a:xfrm>
          <a:prstGeom prst="roundRect">
            <a:avLst>
              <a:gd name="adj" fmla="val 50000"/>
            </a:avLst>
          </a:prstGeom>
          <a:solidFill>
            <a:srgbClr val="D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997696" y="5038344"/>
            <a:ext cx="1251630" cy="146304"/>
          </a:xfrm>
          <a:prstGeom prst="roundRect">
            <a:avLst>
              <a:gd name="adj" fmla="val 50000"/>
            </a:avLst>
          </a:prstGeom>
          <a:solidFill>
            <a:srgbClr val="D8E0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97696" y="5486400"/>
            <a:ext cx="2121408" cy="457200"/>
          </a:xfrm>
          <a:prstGeom prst="roundRect">
            <a:avLst>
              <a:gd name="adj" fmla="val 30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97696" y="5486400"/>
            <a:ext cx="2121408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00" b="1">
                <a:solidFill>
                  <a:srgbClr val="FFFFFF"/>
                </a:solidFill>
                <a:latin typeface="Hiragino Sans"/>
              </a:rPr>
              <a:t>お店の詳細を見る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6446520"/>
            <a:ext cx="27432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6F8170"/>
                </a:solidFill>
                <a:latin typeface="Hiragino Sans"/>
              </a:rPr>
              <a:t>※架空の掲載イメージ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6400800"/>
            <a:ext cx="6400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Takatsuki BASE</a:t>
            </a:r>
            <a:r>
              <a:rPr sz="850" b="0">
                <a:solidFill>
                  <a:srgbClr val="6F8170"/>
                </a:solidFill>
                <a:latin typeface="Hiragino Sans"/>
              </a:rPr>
              <a:t>  ｜ 高槻のお店・人・イベントをつなぐ地域情報ポータル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637215" y="6400800"/>
            <a:ext cx="1051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1F5C3D"/>
                </a:solidFill>
                <a:latin typeface="Hiragino Sans"/>
              </a:rPr>
              <a:t>掲載すると、こんな効果が期待できます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BENEFIT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0">
                <a:solidFill>
                  <a:srgbClr val="2C3A30"/>
                </a:solidFill>
                <a:latin typeface="Hiragino Sans"/>
              </a:rPr>
              <a:t>「機能」ではなく、お店が得られる</a:t>
            </a:r>
            <a:r>
              <a:rPr sz="1500" b="1">
                <a:solidFill>
                  <a:srgbClr val="E8833A"/>
                </a:solidFill>
                <a:latin typeface="Hiragino Sans"/>
              </a:rPr>
              <a:t>「効果」</a:t>
            </a:r>
            <a:r>
              <a:rPr sz="1500" b="0">
                <a:solidFill>
                  <a:srgbClr val="2C3A30"/>
                </a:solidFill>
                <a:latin typeface="Hiragino Sans"/>
              </a:rPr>
              <a:t>でご紹介します。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11183112" cy="576072"/>
          </a:xfrm>
          <a:prstGeom prst="roundRect">
            <a:avLst>
              <a:gd name="adj" fmla="val 8000"/>
            </a:avLst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Hiragino Sans"/>
              </a:rPr>
              <a:t>できること（機能）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31089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FFD9B0"/>
                </a:solidFill>
                <a:latin typeface="Hiragino Sans"/>
              </a:rPr>
              <a:t>得られる効果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3720" y="1783080"/>
            <a:ext cx="49834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200" b="1">
                <a:solidFill>
                  <a:srgbClr val="FFFFFF"/>
                </a:solidFill>
                <a:latin typeface="Hiragino Sans"/>
              </a:rPr>
              <a:t>どういうこと？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50592"/>
            <a:ext cx="11183112" cy="576072"/>
          </a:xfrm>
          <a:prstGeom prst="roundRect">
            <a:avLst>
              <a:gd name="adj" fmla="val 8000"/>
            </a:avLst>
          </a:prstGeom>
          <a:solidFill>
            <a:srgbClr val="EEF3EE"/>
          </a:solidFill>
          <a:ln w="9525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2C3A30"/>
                </a:solidFill>
                <a:latin typeface="Hiragino Sans"/>
              </a:rPr>
              <a:t>地域への掲載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2450592"/>
            <a:ext cx="31089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▶ </a:t>
            </a:r>
            <a:r>
              <a:rPr sz="1150" b="1">
                <a:solidFill>
                  <a:srgbClr val="1F5C3D"/>
                </a:solidFill>
                <a:latin typeface="Hiragino Sans"/>
              </a:rPr>
              <a:t>地域住民への認知向上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3720" y="2450592"/>
            <a:ext cx="49834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高槻に住む人・働く人にお店が届く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90672"/>
            <a:ext cx="1118311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090672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2C3A30"/>
                </a:solidFill>
                <a:latin typeface="Hiragino Sans"/>
              </a:rPr>
              <a:t>検索エンジン対応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3090672"/>
            <a:ext cx="31089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▶ </a:t>
            </a:r>
            <a:r>
              <a:rPr sz="1150" b="1">
                <a:solidFill>
                  <a:srgbClr val="1F5C3D"/>
                </a:solidFill>
                <a:latin typeface="Hiragino Sans"/>
              </a:rPr>
              <a:t>Google検索からの流入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3090672"/>
            <a:ext cx="49834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「高槻 ◯◯」で見つけてもらえる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730752"/>
            <a:ext cx="11183112" cy="576072"/>
          </a:xfrm>
          <a:prstGeom prst="roundRect">
            <a:avLst>
              <a:gd name="adj" fmla="val 8000"/>
            </a:avLst>
          </a:prstGeom>
          <a:solidFill>
            <a:srgbClr val="EEF3EE"/>
          </a:solidFill>
          <a:ln w="9525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730752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2C3A30"/>
                </a:solidFill>
                <a:latin typeface="Hiragino Sans"/>
              </a:rPr>
              <a:t>SNS連携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3730752"/>
            <a:ext cx="31089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▶ </a:t>
            </a:r>
            <a:r>
              <a:rPr sz="1150" b="1">
                <a:solidFill>
                  <a:srgbClr val="1F5C3D"/>
                </a:solidFill>
                <a:latin typeface="Hiragino Sans"/>
              </a:rPr>
              <a:t>SNSとの相乗効果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3730752"/>
            <a:ext cx="49834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投稿とサイトで情報の届く範囲が広がる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370831"/>
            <a:ext cx="1118311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370831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2C3A30"/>
                </a:solidFill>
                <a:latin typeface="Hiragino Sans"/>
              </a:rPr>
              <a:t>イベント掲載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4370831"/>
            <a:ext cx="31089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▶ </a:t>
            </a:r>
            <a:r>
              <a:rPr sz="1150" b="1">
                <a:solidFill>
                  <a:srgbClr val="1F5C3D"/>
                </a:solidFill>
                <a:latin typeface="Hiragino Sans"/>
              </a:rPr>
              <a:t>イベント集客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370831"/>
            <a:ext cx="49834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セール・催しの告知で来店を後押し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10912"/>
            <a:ext cx="11183112" cy="576072"/>
          </a:xfrm>
          <a:prstGeom prst="roundRect">
            <a:avLst>
              <a:gd name="adj" fmla="val 8000"/>
            </a:avLst>
          </a:prstGeom>
          <a:solidFill>
            <a:srgbClr val="EEF3EE"/>
          </a:solidFill>
          <a:ln w="9525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5010912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2C3A30"/>
                </a:solidFill>
                <a:latin typeface="Hiragino Sans"/>
              </a:rPr>
              <a:t>求人掲載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5010912"/>
            <a:ext cx="31089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▶ </a:t>
            </a:r>
            <a:r>
              <a:rPr sz="1150" b="1">
                <a:solidFill>
                  <a:srgbClr val="1F5C3D"/>
                </a:solidFill>
                <a:latin typeface="Hiragino Sans"/>
              </a:rPr>
              <a:t>採用導線の追加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20" y="5010912"/>
            <a:ext cx="49834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求人媒体に頼らず募集を届けられる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2920" y="5650992"/>
            <a:ext cx="11183112" cy="5760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8E0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5650992"/>
            <a:ext cx="274320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2C3A30"/>
                </a:solidFill>
                <a:latin typeface="Hiragino Sans"/>
              </a:rPr>
              <a:t>店舗ページ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5650992"/>
            <a:ext cx="310896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▶ </a:t>
            </a:r>
            <a:r>
              <a:rPr sz="1150" b="1">
                <a:solidFill>
                  <a:srgbClr val="1F5C3D"/>
                </a:solidFill>
                <a:latin typeface="Hiragino Sans"/>
              </a:rPr>
              <a:t>HP代わりに使える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5650992"/>
            <a:ext cx="4983480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050" b="0">
                <a:solidFill>
                  <a:srgbClr val="6F8170"/>
                </a:solidFill>
                <a:latin typeface="Hiragino Sans"/>
              </a:rPr>
              <a:t>制作・更新の負担なく情報発信できる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00800"/>
            <a:ext cx="6400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Takatsuki BASE</a:t>
            </a:r>
            <a:r>
              <a:rPr sz="850" b="0">
                <a:solidFill>
                  <a:srgbClr val="6F8170"/>
                </a:solidFill>
                <a:latin typeface="Hiragino Sans"/>
              </a:rPr>
              <a:t>  ｜ 高槻のお店・人・イベントをつなぐ地域情報ポータル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37215" y="6400800"/>
            <a:ext cx="1051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9601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1F5C3D"/>
                </a:solidFill>
                <a:latin typeface="Hiragino Sans"/>
              </a:rPr>
              <a:t>たとえば、こんなふうに使えます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6012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0">
                <a:solidFill>
                  <a:srgbClr val="2C3A30"/>
                </a:solidFill>
                <a:latin typeface="Hiragino Sans"/>
              </a:rPr>
              <a:t>掲載したあとの、うれしい「その先」をイメージしてみてください。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74519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240279"/>
            <a:ext cx="640080" cy="640080"/>
          </a:xfrm>
          <a:prstGeom prst="ellipse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24027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Hiragino Sans"/>
              </a:rPr>
              <a:t>1</a:t>
            </a:r>
          </a:p>
        </p:txBody>
      </p:sp>
      <p:sp>
        <p:nvSpPr>
          <p:cNvPr id="8" name="Oval 7"/>
          <p:cNvSpPr/>
          <p:nvPr/>
        </p:nvSpPr>
        <p:spPr>
          <a:xfrm>
            <a:off x="4457700" y="2377439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7700" y="2377439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0">
                <a:solidFill>
                  <a:srgbClr val="2C3A30"/>
                </a:solidFill>
                <a:latin typeface="Hiragino Sans"/>
              </a:rPr>
              <a:t>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286000"/>
            <a:ext cx="3063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1F5C3D"/>
                </a:solidFill>
                <a:latin typeface="Hiragino Sans"/>
              </a:rPr>
              <a:t>新商品が来店に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17520"/>
            <a:ext cx="3337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>
                <a:solidFill>
                  <a:srgbClr val="2C3A30"/>
                </a:solidFill>
                <a:latin typeface="Hiragino Sans"/>
              </a:rPr>
              <a:t>新メニューを掲載 → 見た人が「食べてみたい」と来店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874519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611112" y="2240279"/>
            <a:ext cx="640080" cy="640080"/>
          </a:xfrm>
          <a:prstGeom prst="ellipse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11112" y="2240279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Hiragino Sans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10200132" y="2377439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00132" y="2377439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0">
                <a:solidFill>
                  <a:srgbClr val="2C3A30"/>
                </a:solidFill>
                <a:latin typeface="Hiragino Sans"/>
              </a:rPr>
              <a:t>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2" y="2286000"/>
            <a:ext cx="3063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1F5C3D"/>
                </a:solidFill>
                <a:latin typeface="Hiragino Sans"/>
              </a:rPr>
              <a:t>イベントに人が集まる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56832" y="3017520"/>
            <a:ext cx="3337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>
                <a:solidFill>
                  <a:srgbClr val="2C3A30"/>
                </a:solidFill>
                <a:latin typeface="Hiragino Sans"/>
              </a:rPr>
              <a:t>セール告知を掲載 → 地域住民が当日に足を運ぶ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206240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68680" y="4572000"/>
            <a:ext cx="640080" cy="640080"/>
          </a:xfrm>
          <a:prstGeom prst="ellipse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572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Hiragino Sans"/>
              </a:rPr>
              <a:t>3</a:t>
            </a:r>
          </a:p>
        </p:txBody>
      </p:sp>
      <p:sp>
        <p:nvSpPr>
          <p:cNvPr id="22" name="Oval 21"/>
          <p:cNvSpPr/>
          <p:nvPr/>
        </p:nvSpPr>
        <p:spPr>
          <a:xfrm>
            <a:off x="4457700" y="4709159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57700" y="4709159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0">
                <a:solidFill>
                  <a:srgbClr val="2C3A30"/>
                </a:solidFill>
                <a:latin typeface="Hiragino Sans"/>
              </a:rPr>
              <a:t>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617720"/>
            <a:ext cx="3063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1F5C3D"/>
                </a:solidFill>
                <a:latin typeface="Hiragino Sans"/>
              </a:rPr>
              <a:t>求人に応募が届く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3337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>
                <a:solidFill>
                  <a:srgbClr val="2C3A30"/>
                </a:solidFill>
                <a:latin typeface="Hiragino Sans"/>
              </a:rPr>
              <a:t>スタッフ募集を掲載 → 近所の人が応募してくれる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4206240"/>
            <a:ext cx="5440680" cy="2148840"/>
          </a:xfrm>
          <a:prstGeom prst="roundRect">
            <a:avLst>
              <a:gd name="adj" fmla="val 7000"/>
            </a:avLst>
          </a:prstGeom>
          <a:solidFill>
            <a:srgbClr val="EEF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611112" y="4572000"/>
            <a:ext cx="640080" cy="640080"/>
          </a:xfrm>
          <a:prstGeom prst="ellipse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11112" y="457200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FFFFFF"/>
                </a:solidFill>
                <a:latin typeface="Hiragino Sans"/>
              </a:rPr>
              <a:t>4</a:t>
            </a:r>
          </a:p>
        </p:txBody>
      </p:sp>
      <p:sp>
        <p:nvSpPr>
          <p:cNvPr id="29" name="Oval 28"/>
          <p:cNvSpPr/>
          <p:nvPr/>
        </p:nvSpPr>
        <p:spPr>
          <a:xfrm>
            <a:off x="10200132" y="4709159"/>
            <a:ext cx="1143000" cy="114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00132" y="4709159"/>
            <a:ext cx="1143000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0">
                <a:solidFill>
                  <a:srgbClr val="2C3A30"/>
                </a:solidFill>
                <a:latin typeface="Hiragino Sans"/>
              </a:rPr>
              <a:t>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34072" y="4617720"/>
            <a:ext cx="3063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1F5C3D"/>
                </a:solidFill>
                <a:latin typeface="Hiragino Sans"/>
              </a:rPr>
              <a:t>観光客が立ち寄る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56832" y="5349240"/>
            <a:ext cx="33375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</a:pPr>
            <a:r>
              <a:rPr sz="1100" b="0">
                <a:solidFill>
                  <a:srgbClr val="2C3A30"/>
                </a:solidFill>
                <a:latin typeface="Hiragino Sans"/>
              </a:rPr>
              <a:t>高槻を訪れた人がサイトで見つけ、お店に立ち寄る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00800"/>
            <a:ext cx="6400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Takatsuki BASE</a:t>
            </a:r>
            <a:r>
              <a:rPr sz="850" b="0">
                <a:solidFill>
                  <a:srgbClr val="6F8170"/>
                </a:solidFill>
                <a:latin typeface="Hiragino Sans"/>
              </a:rPr>
              <a:t>  ｜ 高槻のお店・人・イベントをつなぐ地域情報ポータル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37215" y="6400800"/>
            <a:ext cx="105156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850" b="1">
                <a:solidFill>
                  <a:srgbClr val="6F8170"/>
                </a:solidFill>
                <a:latin typeface="Hiragino Sans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A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474720"/>
            <a:ext cx="5029200" cy="5029200"/>
          </a:xfrm>
          <a:prstGeom prst="ellipse">
            <a:avLst/>
          </a:prstGeom>
          <a:solidFill>
            <a:srgbClr val="1B47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59436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FFD9B0"/>
                </a:solidFill>
                <a:latin typeface="Hiragino Sans"/>
              </a:rPr>
              <a:t>私たちが目指していること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OUR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FFFFFF"/>
                </a:solidFill>
                <a:latin typeface="Hiragino Sans"/>
              </a:rPr>
              <a:t>Takatsuki BASE は、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sz="2700" b="1">
                <a:solidFill>
                  <a:srgbClr val="FFFFFF"/>
                </a:solidFill>
                <a:latin typeface="Hiragino Sans"/>
              </a:rPr>
              <a:t>単なる広告媒体では</a:t>
            </a:r>
            <a:r>
              <a:rPr sz="2700" b="1">
                <a:solidFill>
                  <a:srgbClr val="FFD9B0"/>
                </a:solidFill>
                <a:latin typeface="Hiragino Sans"/>
              </a:rPr>
              <a:t>ありません。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108960"/>
            <a:ext cx="2670048" cy="2423160"/>
          </a:xfrm>
          <a:prstGeom prst="roundRect">
            <a:avLst>
              <a:gd name="adj" fmla="val 8000"/>
            </a:avLst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80743" y="3364991"/>
            <a:ext cx="914400" cy="914400"/>
          </a:xfrm>
          <a:prstGeom prst="ellipse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80743" y="3364991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300" b="0">
                <a:solidFill>
                  <a:srgbClr val="FFFFFF"/>
                </a:solidFill>
                <a:latin typeface="Hiragino Sans"/>
              </a:rPr>
              <a:t>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389120"/>
            <a:ext cx="23042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FFD9B0"/>
                </a:solidFill>
                <a:latin typeface="Hiragino Sans"/>
              </a:rPr>
              <a:t>つなぐ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92040"/>
            <a:ext cx="22128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DFE9E2"/>
                </a:solidFill>
                <a:latin typeface="Hiragino Sans"/>
              </a:rPr>
              <a:t>地域のお店・企業・人をつなぐ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47287" y="3108960"/>
            <a:ext cx="2670048" cy="2423160"/>
          </a:xfrm>
          <a:prstGeom prst="roundRect">
            <a:avLst>
              <a:gd name="adj" fmla="val 8000"/>
            </a:avLst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25112" y="3364991"/>
            <a:ext cx="914400" cy="914400"/>
          </a:xfrm>
          <a:prstGeom prst="ellipse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25112" y="3364991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300" b="0">
                <a:solidFill>
                  <a:srgbClr val="FFFFFF"/>
                </a:solidFill>
                <a:latin typeface="Hiragino Sans"/>
              </a:rPr>
              <a:t>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30168" y="4389120"/>
            <a:ext cx="23042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FFD9B0"/>
                </a:solidFill>
                <a:latin typeface="Hiragino Sans"/>
              </a:rPr>
              <a:t>広める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7" y="4892040"/>
            <a:ext cx="22128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DFE9E2"/>
                </a:solidFill>
                <a:latin typeface="Hiragino Sans"/>
              </a:rPr>
              <a:t>高槻の魅力を市内外へ発信する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91655" y="3108960"/>
            <a:ext cx="2670048" cy="2423160"/>
          </a:xfrm>
          <a:prstGeom prst="roundRect">
            <a:avLst>
              <a:gd name="adj" fmla="val 8000"/>
            </a:avLst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69479" y="3364991"/>
            <a:ext cx="914400" cy="914400"/>
          </a:xfrm>
          <a:prstGeom prst="ellipse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69479" y="3364991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300" b="0">
                <a:solidFill>
                  <a:srgbClr val="FFFFFF"/>
                </a:solidFill>
                <a:latin typeface="Hiragino Sans"/>
              </a:rPr>
              <a:t>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4536" y="4389120"/>
            <a:ext cx="23042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FFD9B0"/>
                </a:solidFill>
                <a:latin typeface="Hiragino Sans"/>
              </a:rPr>
              <a:t>活性化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5" y="4892040"/>
            <a:ext cx="22128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DFE9E2"/>
                </a:solidFill>
                <a:latin typeface="Hiragino Sans"/>
              </a:rPr>
              <a:t>地域経済の活性化に貢献する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36024" y="3108960"/>
            <a:ext cx="2670048" cy="2423160"/>
          </a:xfrm>
          <a:prstGeom prst="roundRect">
            <a:avLst>
              <a:gd name="adj" fmla="val 8000"/>
            </a:avLst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13848" y="3364991"/>
            <a:ext cx="914400" cy="914400"/>
          </a:xfrm>
          <a:prstGeom prst="ellipse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3848" y="3364991"/>
            <a:ext cx="9144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300" b="0">
                <a:solidFill>
                  <a:srgbClr val="FFFFFF"/>
                </a:solidFill>
                <a:latin typeface="Hiragino Sans"/>
              </a:rPr>
              <a:t>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18904" y="4389120"/>
            <a:ext cx="2304288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FFD9B0"/>
                </a:solidFill>
                <a:latin typeface="Hiragino Sans"/>
              </a:rPr>
              <a:t>育てる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64624" y="4892040"/>
            <a:ext cx="2212848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</a:pPr>
            <a:r>
              <a:rPr sz="1050" b="0">
                <a:solidFill>
                  <a:srgbClr val="DFE9E2"/>
                </a:solidFill>
                <a:latin typeface="Hiragino Sans"/>
              </a:rPr>
              <a:t>事業者と一緒にサービスを育てる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852159"/>
            <a:ext cx="111556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500" b="1">
                <a:solidFill>
                  <a:srgbClr val="E8833A"/>
                </a:solidFill>
                <a:latin typeface="Hiragino Sans"/>
              </a:rPr>
              <a:t>「共創」</a:t>
            </a:r>
            <a:r>
              <a:rPr sz="1400" b="0">
                <a:solidFill>
                  <a:srgbClr val="FFFFFF"/>
                </a:solidFill>
                <a:latin typeface="Hiragino Sans"/>
              </a:rPr>
              <a:t>──地域事業者のみなさんと一緒に、高槻のための仕組みを育てていきます。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5C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645920" y="-1645920"/>
            <a:ext cx="4572000" cy="4572000"/>
          </a:xfrm>
          <a:prstGeom prst="ellipse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0" y="6121908"/>
            <a:ext cx="1584920" cy="553212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43777" y="6286500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82650" y="6286500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63003" y="5870448"/>
            <a:ext cx="1219169" cy="804672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04370" y="6035040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218888" y="6035040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04370" y="6400800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18888" y="6400800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60255" y="6222492"/>
            <a:ext cx="1463003" cy="452628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69896" y="6387083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67318" y="6387083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901342" y="5719572"/>
            <a:ext cx="1341086" cy="955547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76846" y="5884164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732816" y="5884164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76846" y="6249924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32816" y="6249924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120511" y="6051499"/>
            <a:ext cx="1584920" cy="623620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64289" y="6216091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03162" y="6216091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583515" y="5669280"/>
            <a:ext cx="1097252" cy="1005840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90746" y="583387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3812" y="583387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890746" y="619963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63812" y="619963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58851" y="6172200"/>
            <a:ext cx="1463003" cy="502920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68491" y="633679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65913" y="633679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899937" y="5890564"/>
            <a:ext cx="1341086" cy="784555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75441" y="6055156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731411" y="6055156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275441" y="6420916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731411" y="6420916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0119107" y="6091732"/>
            <a:ext cx="1219169" cy="583387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60474" y="6256324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874992" y="6256324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1216359" y="5789980"/>
            <a:ext cx="1219169" cy="885139"/>
          </a:xfrm>
          <a:prstGeom prst="roundRect">
            <a:avLst>
              <a:gd name="adj" fmla="val 6000"/>
            </a:avLst>
          </a:prstGeom>
          <a:solidFill>
            <a:srgbClr val="1842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557727" y="595457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972244" y="595457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557727" y="632033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972244" y="6320332"/>
            <a:ext cx="82296" cy="118872"/>
          </a:xfrm>
          <a:prstGeom prst="rect">
            <a:avLst/>
          </a:prstGeom>
          <a:solidFill>
            <a:srgbClr val="356B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300" b="1" spc="50">
                <a:solidFill>
                  <a:srgbClr val="FFD9B0"/>
                </a:solidFill>
                <a:latin typeface="Hiragino Sans"/>
              </a:rPr>
              <a:t>次のアクション</a:t>
            </a:r>
            <a:r>
              <a:rPr sz="950" b="1" spc="150">
                <a:solidFill>
                  <a:srgbClr val="E8833A"/>
                </a:solidFill>
                <a:latin typeface="Hiragino Sans"/>
              </a:rPr>
              <a:t>   CALL TO ACTION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" y="1143000"/>
            <a:ext cx="77724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Hiragino Sans"/>
              </a:rPr>
              <a:t>まずは</a:t>
            </a:r>
            <a:r>
              <a:rPr sz="3000" b="1">
                <a:solidFill>
                  <a:srgbClr val="FFD9B0"/>
                </a:solidFill>
                <a:latin typeface="Hiragino Sans"/>
              </a:rPr>
              <a:t>無料</a:t>
            </a:r>
            <a:r>
              <a:rPr sz="3000" b="1">
                <a:solidFill>
                  <a:srgbClr val="FFFFFF"/>
                </a:solidFill>
                <a:latin typeface="Hiragino Sans"/>
              </a:rPr>
              <a:t>で、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Hiragino Sans"/>
              </a:rPr>
              <a:t>掲載の相談から</a:t>
            </a:r>
          </a:p>
          <a:p>
            <a:pPr algn="l">
              <a:lnSpc>
                <a:spcPct val="118000"/>
              </a:lnSpc>
              <a:spcBef>
                <a:spcPts val="0"/>
              </a:spcBef>
            </a:pPr>
            <a:r>
              <a:rPr sz="3000" b="1">
                <a:solidFill>
                  <a:srgbClr val="FFFFFF"/>
                </a:solidFill>
                <a:latin typeface="Hiragino Sans"/>
              </a:rPr>
              <a:t>始めませんか？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3611880"/>
            <a:ext cx="70408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>
                <a:solidFill>
                  <a:srgbClr val="DFE9E2"/>
                </a:solidFill>
                <a:latin typeface="Hiragino Sans"/>
              </a:rPr>
              <a:t>掲載内容の整理や写真選びも、こちらでサポートします。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sz="1250" b="0">
                <a:solidFill>
                  <a:srgbClr val="DFE9E2"/>
                </a:solidFill>
                <a:latin typeface="Hiragino Sans"/>
              </a:rPr>
              <a:t>「話だけ聞いてみたい」も大歓迎。お気軽にご相談ください。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" y="49834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運営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554480" y="49834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FFFFFF"/>
                </a:solidFill>
                <a:latin typeface="Hiragino Sans"/>
              </a:rPr>
              <a:t>Takatsuki BASE 運営事務局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389120" y="4983480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WEB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03520" y="4983480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FFFFFF"/>
                </a:solidFill>
                <a:latin typeface="Hiragino Sans"/>
              </a:rPr>
              <a:t>takatsuki-base.jp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0080" y="5550408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Mail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554480" y="55504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FFFFFF"/>
                </a:solidFill>
                <a:latin typeface="Hiragino Sans"/>
              </a:rPr>
              <a:t>info@takatsuki-base.jp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89120" y="5550408"/>
            <a:ext cx="9144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E8833A"/>
                </a:solidFill>
                <a:latin typeface="Hiragino Sans"/>
              </a:rPr>
              <a:t>IG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03520" y="5550408"/>
            <a:ext cx="2743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150" b="1">
                <a:solidFill>
                  <a:srgbClr val="FFFFFF"/>
                </a:solidFill>
                <a:latin typeface="Hiragino Sans"/>
              </a:rPr>
              <a:t>@takatsuki_base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732520" y="1325880"/>
            <a:ext cx="2834640" cy="3657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Takatsuki_BASE_Q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1691640"/>
            <a:ext cx="2011680" cy="201168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8732520" y="384048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1F5C3D"/>
                </a:solidFill>
                <a:latin typeface="Hiragino Sans"/>
              </a:rPr>
              <a:t>スマホで読み取り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4297680"/>
            <a:ext cx="28346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000" b="0">
                <a:solidFill>
                  <a:srgbClr val="6F8170"/>
                </a:solidFill>
                <a:latin typeface="Hiragino Sans"/>
              </a:rPr>
              <a:t>takatsuki-base.jp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732520" y="5166360"/>
            <a:ext cx="2834640" cy="960120"/>
          </a:xfrm>
          <a:prstGeom prst="roundRect">
            <a:avLst>
              <a:gd name="adj" fmla="val 15000"/>
            </a:avLst>
          </a:prstGeom>
          <a:solidFill>
            <a:srgbClr val="E883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823960" y="5212080"/>
            <a:ext cx="2651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250" b="1">
                <a:solidFill>
                  <a:srgbClr val="FFFFFF"/>
                </a:solidFill>
                <a:latin typeface="Hiragino Sans"/>
              </a:rPr>
              <a:t>一緒に高槻を</a:t>
            </a:r>
          </a:p>
          <a:p>
            <a:pPr algn="ctr">
              <a:lnSpc>
                <a:spcPct val="120000"/>
              </a:lnSpc>
              <a:spcBef>
                <a:spcPts val="0"/>
              </a:spcBef>
            </a:pPr>
            <a:r>
              <a:rPr sz="1100" b="1">
                <a:solidFill>
                  <a:srgbClr val="FFFFFF"/>
                </a:solidFill>
                <a:latin typeface="Hiragino Sans"/>
              </a:rPr>
              <a:t>盛り上げる仲間を募集中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6473952"/>
            <a:ext cx="82296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850" b="0">
                <a:solidFill>
                  <a:srgbClr val="B8CCC0"/>
                </a:solidFill>
                <a:latin typeface="Hiragino Sans"/>
              </a:rPr>
              <a:t>※ロゴ・連絡先・QRは差し替え用のサンプルです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