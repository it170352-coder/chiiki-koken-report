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月次収益目安（万円）</c:v>
                </c:pt>
              </c:strCache>
            </c:strRef>
          </c:tx>
          <c:spPr>
            <a:solidFill>
              <a:srgbClr val="6B8A7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B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8A7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2B7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6E4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3A2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Phase 1
0〜3ヶ月</c:v>
                  </c:pt>
                  <c:pt idx="1">
                    <c:v>Phase 2
3〜6ヶ月</c:v>
                  </c:pt>
                  <c:pt idx="2">
                    <c:v>Phase 3
6〜12ヶ月</c:v>
                  </c:pt>
                  <c:pt idx="3">
                    <c:v>Phase 4
12ヶ月〜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10</c:v>
                </c:pt>
                <c:pt idx="2">
                  <c:v>35</c:v>
                </c:pt>
                <c:pt idx="3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B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A4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6350" cap="flat">
              <a:solidFill>
                <a:srgbClr val="E2EB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A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0"/>
            <a:ext cx="2377440" cy="365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A2E"/>
                </a:solidFill>
              </a:rPr>
              <a:t>地域貢献プロジェクト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6858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高槻市</a:t>
            </a:r>
            <a:endParaRPr lang="en-US" sz="4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地域貢献</a:t>
            </a:r>
            <a:endParaRPr lang="en-US" sz="4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ロードマップ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858000" y="4389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2B788"/>
                </a:solidFill>
              </a:rPr>
              <a:t>2026.05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49440" y="-457200"/>
            <a:ext cx="2926080" cy="2926080"/>
          </a:xfrm>
          <a:prstGeom prst="ellipse">
            <a:avLst/>
          </a:prstGeom>
          <a:solidFill>
            <a:srgbClr val="2C6E49">
              <a:alpha val="30000"/>
            </a:srgbClr>
          </a:solidFill>
          <a:ln w="12700">
            <a:solidFill>
              <a:srgbClr val="2C6E49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1828800"/>
            <a:ext cx="1828800" cy="1828800"/>
          </a:xfrm>
          <a:prstGeom prst="ellipse">
            <a:avLst/>
          </a:prstGeom>
          <a:solidFill>
            <a:srgbClr val="52B788">
              <a:alpha val="20000"/>
            </a:srgbClr>
          </a:solidFill>
          <a:ln w="12700">
            <a:solidFill>
              <a:srgbClr val="52B788">
                <a:alpha val="2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2B788"/>
                </a:solidFill>
              </a:rPr>
              <a:t>ビジョン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164592" cy="29260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09728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600" dirty="0">
                <a:solidFill>
                  <a:srgbClr val="1B2B1F"/>
                </a:solidFill>
              </a:rPr>
              <a:t>高槻市に住む人が</a:t>
            </a:r>
            <a:endParaRPr lang="en-US" sz="26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2600" dirty="0">
                <a:solidFill>
                  <a:srgbClr val="1B2B1F"/>
                </a:solidFill>
              </a:rPr>
              <a:t>「必要な情報にすぐアクセスでき、</a:t>
            </a:r>
            <a:endParaRPr lang="en-US" sz="26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2600" dirty="0">
                <a:solidFill>
                  <a:srgbClr val="1B2B1F"/>
                </a:solidFill>
              </a:rPr>
              <a:t>地域とつながれる」</a:t>
            </a:r>
            <a:endParaRPr lang="en-US" sz="26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2600" dirty="0">
                <a:solidFill>
                  <a:srgbClr val="1B2B1F"/>
                </a:solidFill>
              </a:rPr>
              <a:t>ポータルサイトを軸に、</a:t>
            </a:r>
            <a:endParaRPr lang="en-US" sz="26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2600" dirty="0">
                <a:solidFill>
                  <a:srgbClr val="1B2B1F"/>
                </a:solidFill>
              </a:rPr>
              <a:t>地域貢献とビジネスの両立を目指す。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4160520"/>
            <a:ext cx="2651760" cy="77724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41605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地域貢献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住民の暮らしを支える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55848" y="4160520"/>
            <a:ext cx="2651760" cy="77724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55848" y="41605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情報集約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高槻の全情報が1カ所に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54496" y="4160520"/>
            <a:ext cx="2651760" cy="77724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4496" y="41605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ビジネス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持続可能な収益モデル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2B788"/>
                </a:solidFill>
              </a:rPr>
              <a:t>3つの柱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743200" cy="3840480"/>
          </a:xfrm>
          <a:prstGeom prst="rect">
            <a:avLst/>
          </a:prstGeom>
          <a:solidFill>
            <a:srgbClr val="F0F7F4"/>
          </a:solidFill>
          <a:ln w="12700">
            <a:solidFill>
              <a:srgbClr val="E9F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🏘️  地域貢献活動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B1F"/>
                </a:solidFill>
              </a:rPr>
              <a:t>イベント開催・安満遺跡活用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B1F"/>
                </a:solidFill>
              </a:rPr>
              <a:t>子育て支援・子ども食堂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B1F"/>
                </a:solidFill>
              </a:rPr>
              <a:t>高齢者の見守り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B1F"/>
                </a:solidFill>
              </a:rPr>
              <a:t>こどもの見守り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B1F"/>
                </a:solidFill>
              </a:rPr>
              <a:t>職業体験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3840480"/>
          </a:xfrm>
          <a:prstGeom prst="rect">
            <a:avLst/>
          </a:prstGeom>
          <a:solidFill>
            <a:srgbClr val="F0F7F4"/>
          </a:solidFill>
          <a:ln w="12700">
            <a:solidFill>
              <a:srgbClr val="E9F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2743200" cy="50292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📱  ポータルサイト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572768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B1F"/>
                </a:solidFill>
              </a:rPr>
              <a:t>飲食店・病院・保育所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B1F"/>
                </a:solidFill>
              </a:rPr>
              <a:t>美容院・塾/習いごと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B1F"/>
                </a:solidFill>
              </a:rPr>
              <a:t>物件・宿泊/民泊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B1F"/>
                </a:solidFill>
              </a:rPr>
              <a:t>介護施設・就労支援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B1F"/>
                </a:solidFill>
              </a:rPr>
              <a:t>放課後デイ・イベント情報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743200" cy="3840480"/>
          </a:xfrm>
          <a:prstGeom prst="rect">
            <a:avLst/>
          </a:prstGeom>
          <a:solidFill>
            <a:srgbClr val="F0F7F4"/>
          </a:solidFill>
          <a:ln w="12700">
            <a:solidFill>
              <a:srgbClr val="E9F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2743200" cy="502920"/>
          </a:xfrm>
          <a:prstGeom prst="rect">
            <a:avLst/>
          </a:prstGeom>
          <a:solidFill>
            <a:srgbClr val="6B4B8A"/>
          </a:solidFill>
          <a:ln w="12700">
            <a:solidFill>
              <a:srgbClr val="6B4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📣  集客施策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572768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B1F"/>
                </a:solidFill>
              </a:rPr>
              <a:t>SNS・SEO強化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B1F"/>
                </a:solidFill>
              </a:rPr>
              <a:t>QRコード店舗設置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B1F"/>
                </a:solidFill>
              </a:rPr>
              <a:t>インフルエンサー活用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B1F"/>
                </a:solidFill>
              </a:rPr>
              <a:t>広告出稿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B1F"/>
                </a:solidFill>
              </a:rPr>
              <a:t>美容院タブレット掲載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2B788"/>
                </a:solidFill>
              </a:rPr>
              <a:t>マネタイズ戦略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1206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60120"/>
            <a:ext cx="3108960" cy="804672"/>
          </a:xfrm>
          <a:prstGeom prst="rect">
            <a:avLst/>
          </a:prstGeom>
          <a:solidFill>
            <a:srgbClr val="F0F7F4"/>
          </a:solidFill>
          <a:ln w="12700">
            <a:solidFill>
              <a:srgbClr val="E9F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960120"/>
            <a:ext cx="109728" cy="804672"/>
          </a:xfrm>
          <a:prstGeom prst="rect">
            <a:avLst/>
          </a:prstGeom>
          <a:solidFill>
            <a:srgbClr val="6B8A76"/>
          </a:solidFill>
          <a:ln w="12700">
            <a:solidFill>
              <a:srgbClr val="6B8A7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89320" y="100584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8A76"/>
                </a:solidFill>
              </a:rPr>
              <a:t>Phase 1  </a:t>
            </a:r>
            <a:pPr algn="l" indent="0" marL="0">
              <a:buNone/>
            </a:pPr>
            <a:r>
              <a:rPr lang="en-US" sz="1000" dirty="0">
                <a:solidFill>
                  <a:srgbClr val="6B8A76"/>
                </a:solidFill>
              </a:rPr>
              <a:t>0〜3ヶ月</a:t>
            </a:r>
            <a:endParaRPr lang="en-US" sz="12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B2B1F"/>
                </a:solidFill>
              </a:rPr>
              <a:t>¥0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8A76"/>
                </a:solidFill>
              </a:rPr>
              <a:t>無料期間・スポンサー探し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60720" y="1911096"/>
            <a:ext cx="3108960" cy="804672"/>
          </a:xfrm>
          <a:prstGeom prst="rect">
            <a:avLst/>
          </a:prstGeom>
          <a:solidFill>
            <a:srgbClr val="F0F7F4"/>
          </a:solidFill>
          <a:ln w="12700">
            <a:solidFill>
              <a:srgbClr val="E9F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60720" y="1911096"/>
            <a:ext cx="109728" cy="8046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9320" y="1956816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2B788"/>
                </a:solidFill>
              </a:rPr>
              <a:t>Phase 2  </a:t>
            </a:r>
            <a:pPr algn="l" indent="0" marL="0">
              <a:buNone/>
            </a:pPr>
            <a:r>
              <a:rPr lang="en-US" sz="1000" dirty="0">
                <a:solidFill>
                  <a:srgbClr val="6B8A76"/>
                </a:solidFill>
              </a:rPr>
              <a:t>3〜6ヶ月</a:t>
            </a:r>
            <a:endParaRPr lang="en-US" sz="12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B2B1F"/>
                </a:solidFill>
              </a:rPr>
              <a:t>¥5〜15万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8A76"/>
                </a:solidFill>
              </a:rPr>
              <a:t>求人広告・一部有料掲載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760720" y="2862072"/>
            <a:ext cx="3108960" cy="804672"/>
          </a:xfrm>
          <a:prstGeom prst="rect">
            <a:avLst/>
          </a:prstGeom>
          <a:solidFill>
            <a:srgbClr val="F0F7F4"/>
          </a:solidFill>
          <a:ln w="12700">
            <a:solidFill>
              <a:srgbClr val="E9F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60720" y="2862072"/>
            <a:ext cx="109728" cy="804672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9320" y="2907792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6E49"/>
                </a:solidFill>
              </a:rPr>
              <a:t>Phase 3  </a:t>
            </a:r>
            <a:pPr algn="l" indent="0" marL="0">
              <a:buNone/>
            </a:pPr>
            <a:r>
              <a:rPr lang="en-US" sz="1000" dirty="0">
                <a:solidFill>
                  <a:srgbClr val="6B8A76"/>
                </a:solidFill>
              </a:rPr>
              <a:t>6〜12ヶ月</a:t>
            </a:r>
            <a:endParaRPr lang="en-US" sz="12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B2B1F"/>
                </a:solidFill>
              </a:rPr>
              <a:t>¥20〜50万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8A76"/>
                </a:solidFill>
              </a:rPr>
              <a:t>全有料化・広報代行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760720" y="3813048"/>
            <a:ext cx="3108960" cy="804672"/>
          </a:xfrm>
          <a:prstGeom prst="rect">
            <a:avLst/>
          </a:prstGeom>
          <a:solidFill>
            <a:srgbClr val="F0F7F4"/>
          </a:solidFill>
          <a:ln w="12700">
            <a:solidFill>
              <a:srgbClr val="E9F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760720" y="3813048"/>
            <a:ext cx="109728" cy="804672"/>
          </a:xfrm>
          <a:prstGeom prst="rect">
            <a:avLst/>
          </a:prstGeom>
          <a:solidFill>
            <a:srgbClr val="1C3A2E"/>
          </a:solidFill>
          <a:ln w="12700">
            <a:solidFill>
              <a:srgbClr val="1C3A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9320" y="3858768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3A2E"/>
                </a:solidFill>
              </a:rPr>
              <a:t>Phase 4  </a:t>
            </a:r>
            <a:pPr algn="l" indent="0" marL="0">
              <a:buNone/>
            </a:pPr>
            <a:r>
              <a:rPr lang="en-US" sz="1000" dirty="0">
                <a:solidFill>
                  <a:srgbClr val="6B8A76"/>
                </a:solidFill>
              </a:rPr>
              <a:t>12ヶ月〜</a:t>
            </a:r>
            <a:endParaRPr lang="en-US" sz="12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B2B1F"/>
                </a:solidFill>
              </a:rPr>
              <a:t>¥50万〜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8A76"/>
                </a:solidFill>
              </a:rPr>
              <a:t>イベント主催・不動産連携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2B788"/>
                </a:solidFill>
              </a:rPr>
              <a:t>主な収益源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F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411480" cy="41148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10515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B1F"/>
                </a:solidFill>
              </a:rPr>
              <a:t>店舗・施設の有料掲載  </a:t>
            </a:r>
            <a:pPr algn="l"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月額 ¥3,000〜10,000/店舗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4081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8A76"/>
                </a:solidFill>
              </a:rPr>
              <a:t>飲食店・美容院・病院・ペットサロン・塾 ／ 最初6ヶ月は無料→有料化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F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88720"/>
            <a:ext cx="411480" cy="41148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10515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B1F"/>
                </a:solidFill>
              </a:rPr>
              <a:t>求人広告・転職フェア  </a:t>
            </a:r>
            <a:pPr algn="l"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¥10,000〜30,000/掲載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14081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8A76"/>
                </a:solidFill>
              </a:rPr>
              <a:t>地元企業・介護施設・就労支援・放課後デイ ／ フェアスポンサー収入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01168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F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194560"/>
            <a:ext cx="411480" cy="41148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20574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B1F"/>
                </a:solidFill>
              </a:rPr>
              <a:t>広告・スポンサードPR  </a:t>
            </a:r>
            <a:pPr algn="l"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記事 ¥30,000〜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4140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8A76"/>
                </a:solidFill>
              </a:rPr>
              <a:t>サイト内バナー枠（月額）／ ウェブマガジンPR記事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01168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F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194560"/>
            <a:ext cx="411480" cy="41148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20574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B1F"/>
                </a:solidFill>
              </a:rPr>
              <a:t>広報代行サービス  </a:t>
            </a:r>
            <a:pPr algn="l"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月額 ¥30,000〜50,000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24140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8A76"/>
                </a:solidFill>
              </a:rPr>
              <a:t>SNS運用代行 ／ ウェブマガジン記事制作・地元企業PR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01752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F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200400"/>
            <a:ext cx="411480" cy="41148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0120" y="30632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B1F"/>
                </a:solidFill>
              </a:rPr>
              <a:t>物件情報・不動産連携  </a:t>
            </a:r>
            <a:pPr algn="l"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成果報酬型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34198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8A76"/>
                </a:solidFill>
              </a:rPr>
              <a:t>高槻市内物件まとめページ ／ 不動産会社と連携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01752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F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200400"/>
            <a:ext cx="411480" cy="41148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30632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B1F"/>
                </a:solidFill>
              </a:rPr>
              <a:t>宿泊・民泊手数料  </a:t>
            </a:r>
            <a:pPr algn="l"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予約金額の5〜10%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34198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8A76"/>
                </a:solidFill>
              </a:rPr>
              <a:t>高槻の宿泊施設・民泊と連携 ／ 予約時に手数料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02336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F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4206240"/>
            <a:ext cx="411480" cy="41148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60120" y="40690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B1F"/>
                </a:solidFill>
              </a:rPr>
              <a:t>イベント主催  </a:t>
            </a:r>
            <a:pPr algn="l"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年数回・スポンサー収入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60120" y="442569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8A76"/>
                </a:solidFill>
              </a:rPr>
              <a:t>安満遺跡など高槻ならでは ／ 地元企業スポンサード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52A37A"/>
          </a:solidFill>
          <a:ln w="12700">
            <a:solidFill>
              <a:srgbClr val="52A3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274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Phase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" y="8229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基盤構築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" y="1828800"/>
            <a:ext cx="2743200" cy="34747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1828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0〜3ヶ月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目標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" y="26060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サイトのMVPをつくり、掲載店舗を集める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" y="3840480"/>
            <a:ext cx="3017520" cy="10058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3886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KPI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" y="4133088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掲載施設数 50件以上  ／  月間PV 1,000以上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320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8A76"/>
                </a:solidFill>
              </a:rPr>
              <a:t>アクションリスト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731520"/>
            <a:ext cx="5394960" cy="27432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93008" y="960120"/>
            <a:ext cx="274320" cy="274320"/>
          </a:xfrm>
          <a:prstGeom prst="ellipse">
            <a:avLst/>
          </a:prstGeom>
          <a:solidFill>
            <a:srgbClr val="F0F7F4"/>
          </a:solidFill>
          <a:ln w="19050">
            <a:solidFill>
              <a:srgbClr val="52A3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58768" y="1069848"/>
            <a:ext cx="4937760" cy="18288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8686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B1F"/>
                </a:solidFill>
              </a:rPr>
              <a:t>参考ポータルサイト（takatsuki.mypl.net）の研究・差別化整理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93008" y="1563624"/>
            <a:ext cx="274320" cy="274320"/>
          </a:xfrm>
          <a:prstGeom prst="ellipse">
            <a:avLst/>
          </a:prstGeom>
          <a:solidFill>
            <a:srgbClr val="F0F7F4"/>
          </a:solidFill>
          <a:ln w="19050">
            <a:solidFill>
              <a:srgbClr val="52A3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58768" y="1673352"/>
            <a:ext cx="4937760" cy="18288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147218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B1F"/>
                </a:solidFill>
              </a:rPr>
              <a:t>サイト設計・ワイヤーフレーム作成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93008" y="2167128"/>
            <a:ext cx="274320" cy="274320"/>
          </a:xfrm>
          <a:prstGeom prst="ellipse">
            <a:avLst/>
          </a:prstGeom>
          <a:solidFill>
            <a:srgbClr val="F0F7F4"/>
          </a:solidFill>
          <a:ln w="19050">
            <a:solidFill>
              <a:srgbClr val="52A3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58768" y="2276856"/>
            <a:ext cx="4937760" cy="18288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207568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B1F"/>
                </a:solidFill>
              </a:rPr>
              <a:t>SNSアカウント開設（Instagram / X / LINE）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93008" y="2770632"/>
            <a:ext cx="274320" cy="274320"/>
          </a:xfrm>
          <a:prstGeom prst="ellipse">
            <a:avLst/>
          </a:prstGeom>
          <a:solidFill>
            <a:srgbClr val="F0F7F4"/>
          </a:solidFill>
          <a:ln w="19050">
            <a:solidFill>
              <a:srgbClr val="52A3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58768" y="2880360"/>
            <a:ext cx="4937760" cy="18288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86200" y="267919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B1F"/>
                </a:solidFill>
              </a:rPr>
              <a:t>初期掲載コンテンツ収集（飲食店・病院・保育所 各10件〜）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93008" y="3374136"/>
            <a:ext cx="274320" cy="274320"/>
          </a:xfrm>
          <a:prstGeom prst="ellipse">
            <a:avLst/>
          </a:prstGeom>
          <a:solidFill>
            <a:srgbClr val="F0F7F4"/>
          </a:solidFill>
          <a:ln w="19050">
            <a:solidFill>
              <a:srgbClr val="52A3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58768" y="3483864"/>
            <a:ext cx="4937760" cy="18288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86200" y="328269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B1F"/>
                </a:solidFill>
              </a:rPr>
              <a:t>無料掲載の店舗・施設へのアポイント開始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93008" y="3977640"/>
            <a:ext cx="274320" cy="274320"/>
          </a:xfrm>
          <a:prstGeom prst="ellipse">
            <a:avLst/>
          </a:prstGeom>
          <a:solidFill>
            <a:srgbClr val="F0F7F4"/>
          </a:solidFill>
          <a:ln w="19050">
            <a:solidFill>
              <a:srgbClr val="52A3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58768" y="4087368"/>
            <a:ext cx="4937760" cy="18288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86200" y="38862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B1F"/>
                </a:solidFill>
              </a:rPr>
              <a:t>セキュリティ・個人情報ポリシーの整備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493008" y="4581144"/>
            <a:ext cx="274320" cy="274320"/>
          </a:xfrm>
          <a:prstGeom prst="ellipse">
            <a:avLst/>
          </a:prstGeom>
          <a:solidFill>
            <a:srgbClr val="F0F7F4"/>
          </a:solidFill>
          <a:ln w="19050">
            <a:solidFill>
              <a:srgbClr val="52A3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58768" y="4690872"/>
            <a:ext cx="4937760" cy="18288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86200" y="448970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B1F"/>
                </a:solidFill>
              </a:rPr>
              <a:t>MVPサイトのローンチ（無料掲載のみ）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274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Phase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" y="8229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集客 &amp; 初期マネタイズ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" y="1828800"/>
            <a:ext cx="2743200" cy="34747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1828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3〜6ヶ月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目標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" y="26060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ユーザーを集めながら、最初の収益をつくる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" y="3840480"/>
            <a:ext cx="3017520" cy="10058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3886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KPI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" y="4133088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月間PV 5,000以上  ／  有料掲載 20件以上  ／  月次収益 ¥5万以上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320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8A76"/>
                </a:solidFill>
              </a:rPr>
              <a:t>アクションリスト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731520"/>
            <a:ext cx="5394960" cy="27432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93008" y="960120"/>
            <a:ext cx="274320" cy="274320"/>
          </a:xfrm>
          <a:prstGeom prst="ellipse">
            <a:avLst/>
          </a:prstGeom>
          <a:solidFill>
            <a:srgbClr val="F0F7F4"/>
          </a:solidFill>
          <a:ln w="19050">
            <a:solidFill>
              <a:srgbClr val="0D7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58768" y="1069848"/>
            <a:ext cx="4937760" cy="18288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8686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B1F"/>
                </a:solidFill>
              </a:rPr>
              <a:t>SEO対策（高槻 × 各カテゴリのキーワード強化）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93008" y="1563624"/>
            <a:ext cx="274320" cy="274320"/>
          </a:xfrm>
          <a:prstGeom prst="ellipse">
            <a:avLst/>
          </a:prstGeom>
          <a:solidFill>
            <a:srgbClr val="F0F7F4"/>
          </a:solidFill>
          <a:ln w="19050">
            <a:solidFill>
              <a:srgbClr val="0D7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58768" y="1673352"/>
            <a:ext cx="4937760" cy="18288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147218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B1F"/>
                </a:solidFill>
              </a:rPr>
              <a:t>地元インフルエンサーとの連携企画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93008" y="2167128"/>
            <a:ext cx="274320" cy="274320"/>
          </a:xfrm>
          <a:prstGeom prst="ellipse">
            <a:avLst/>
          </a:prstGeom>
          <a:solidFill>
            <a:srgbClr val="F0F7F4"/>
          </a:solidFill>
          <a:ln w="19050">
            <a:solidFill>
              <a:srgbClr val="0D7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58768" y="2276856"/>
            <a:ext cx="4937760" cy="18288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207568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B1F"/>
                </a:solidFill>
              </a:rPr>
              <a:t>店舗へのQRコード設置（美容院・飲食店タブレット活用）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93008" y="2770632"/>
            <a:ext cx="274320" cy="274320"/>
          </a:xfrm>
          <a:prstGeom prst="ellipse">
            <a:avLst/>
          </a:prstGeom>
          <a:solidFill>
            <a:srgbClr val="F0F7F4"/>
          </a:solidFill>
          <a:ln w="19050">
            <a:solidFill>
              <a:srgbClr val="0D7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58768" y="2880360"/>
            <a:ext cx="4937760" cy="18288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86200" y="267919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B1F"/>
                </a:solidFill>
              </a:rPr>
              <a:t>求人広告枠の販売開始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93008" y="3374136"/>
            <a:ext cx="274320" cy="274320"/>
          </a:xfrm>
          <a:prstGeom prst="ellipse">
            <a:avLst/>
          </a:prstGeom>
          <a:solidFill>
            <a:srgbClr val="F0F7F4"/>
          </a:solidFill>
          <a:ln w="19050">
            <a:solidFill>
              <a:srgbClr val="0D7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58768" y="3483864"/>
            <a:ext cx="4937760" cy="18288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86200" y="328269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B1F"/>
                </a:solidFill>
              </a:rPr>
              <a:t>ウェブマガジン・コラムコーナーの立ち上げ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93008" y="3977640"/>
            <a:ext cx="274320" cy="274320"/>
          </a:xfrm>
          <a:prstGeom prst="ellipse">
            <a:avLst/>
          </a:prstGeom>
          <a:solidFill>
            <a:srgbClr val="F0F7F4"/>
          </a:solidFill>
          <a:ln w="19050">
            <a:solidFill>
              <a:srgbClr val="0D7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58768" y="4087368"/>
            <a:ext cx="4937760" cy="18288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86200" y="38862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B1F"/>
                </a:solidFill>
              </a:rPr>
              <a:t>イベント情報の充実（安満遺跡イベント等の掲載）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493008" y="4581144"/>
            <a:ext cx="274320" cy="274320"/>
          </a:xfrm>
          <a:prstGeom prst="ellipse">
            <a:avLst/>
          </a:prstGeom>
          <a:solidFill>
            <a:srgbClr val="F0F7F4"/>
          </a:solidFill>
          <a:ln w="19050">
            <a:solidFill>
              <a:srgbClr val="0D7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58768" y="4690872"/>
            <a:ext cx="4937760" cy="18288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86200" y="448970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B1F"/>
                </a:solidFill>
              </a:rPr>
              <a:t>子ども食堂・職業体験など地域貢献イベント 第1回開催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274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Phase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" y="8229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本格マネタイズ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" y="1828800"/>
            <a:ext cx="2743200" cy="34747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1828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6〜12ヶ月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目標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" y="26060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複数の収益柱を確立し、安定運営へ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" y="3840480"/>
            <a:ext cx="3017520" cy="10058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3886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KPI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" y="4133088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月間PV 20,000以上  ／  有料掲載 100件以上  ／  月次収益 ¥20万以上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320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8A76"/>
                </a:solidFill>
              </a:rPr>
              <a:t>アクションリスト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731520"/>
            <a:ext cx="5394960" cy="27432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93008" y="960120"/>
            <a:ext cx="274320" cy="274320"/>
          </a:xfrm>
          <a:prstGeom prst="ellipse">
            <a:avLst/>
          </a:prstGeom>
          <a:solidFill>
            <a:srgbClr val="F0F7F4"/>
          </a:solidFill>
          <a:ln w="19050">
            <a:solidFill>
              <a:srgbClr val="2C6E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58768" y="1069848"/>
            <a:ext cx="4937760" cy="18288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8686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B1F"/>
                </a:solidFill>
              </a:rPr>
              <a:t>全掲載カテゴリの有料プラン展開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93008" y="1563624"/>
            <a:ext cx="274320" cy="274320"/>
          </a:xfrm>
          <a:prstGeom prst="ellipse">
            <a:avLst/>
          </a:prstGeom>
          <a:solidFill>
            <a:srgbClr val="F0F7F4"/>
          </a:solidFill>
          <a:ln w="19050">
            <a:solidFill>
              <a:srgbClr val="2C6E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58768" y="1673352"/>
            <a:ext cx="4937760" cy="18288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147218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B1F"/>
                </a:solidFill>
              </a:rPr>
              <a:t>地元企業向け広報代行サービスの開始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93008" y="2167128"/>
            <a:ext cx="274320" cy="274320"/>
          </a:xfrm>
          <a:prstGeom prst="ellipse">
            <a:avLst/>
          </a:prstGeom>
          <a:solidFill>
            <a:srgbClr val="F0F7F4"/>
          </a:solidFill>
          <a:ln w="19050">
            <a:solidFill>
              <a:srgbClr val="2C6E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58768" y="2276856"/>
            <a:ext cx="4937760" cy="18288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207568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B1F"/>
                </a:solidFill>
              </a:rPr>
              <a:t>転職フェアの初回開催（地元企業・就労支援事業所を集客）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93008" y="2770632"/>
            <a:ext cx="274320" cy="274320"/>
          </a:xfrm>
          <a:prstGeom prst="ellipse">
            <a:avLst/>
          </a:prstGeom>
          <a:solidFill>
            <a:srgbClr val="F0F7F4"/>
          </a:solidFill>
          <a:ln w="19050">
            <a:solidFill>
              <a:srgbClr val="2C6E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58768" y="2880360"/>
            <a:ext cx="4937760" cy="18288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86200" y="267919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B1F"/>
                </a:solidFill>
              </a:rPr>
              <a:t>高槻市内物件まとめページと不動産会社の連携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93008" y="3374136"/>
            <a:ext cx="274320" cy="274320"/>
          </a:xfrm>
          <a:prstGeom prst="ellipse">
            <a:avLst/>
          </a:prstGeom>
          <a:solidFill>
            <a:srgbClr val="F0F7F4"/>
          </a:solidFill>
          <a:ln w="19050">
            <a:solidFill>
              <a:srgbClr val="2C6E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58768" y="3483864"/>
            <a:ext cx="4937760" cy="18288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86200" y="328269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B1F"/>
                </a:solidFill>
              </a:rPr>
              <a:t>宿泊・民泊情報の予約連携機能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93008" y="3977640"/>
            <a:ext cx="274320" cy="274320"/>
          </a:xfrm>
          <a:prstGeom prst="ellipse">
            <a:avLst/>
          </a:prstGeom>
          <a:solidFill>
            <a:srgbClr val="F0F7F4"/>
          </a:solidFill>
          <a:ln w="19050">
            <a:solidFill>
              <a:srgbClr val="2C6E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58768" y="4087368"/>
            <a:ext cx="4937760" cy="18288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86200" y="38862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B1F"/>
                </a:solidFill>
              </a:rPr>
              <a:t>高齢者見守り・こどもの見守りサービスとの連携掲載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493008" y="4581144"/>
            <a:ext cx="274320" cy="274320"/>
          </a:xfrm>
          <a:prstGeom prst="ellipse">
            <a:avLst/>
          </a:prstGeom>
          <a:solidFill>
            <a:srgbClr val="F0F7F4"/>
          </a:solidFill>
          <a:ln w="19050">
            <a:solidFill>
              <a:srgbClr val="2C6E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58768" y="4690872"/>
            <a:ext cx="4937760" cy="18288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86200" y="448970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B1F"/>
                </a:solidFill>
              </a:rPr>
              <a:t>市や地域団体への働きかけ（行政連携の検討）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C3A2E"/>
          </a:solidFill>
          <a:ln w="12700">
            <a:solidFill>
              <a:srgbClr val="1C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274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Phase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" y="8229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拡大・ブランド化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" y="1828800"/>
            <a:ext cx="2743200" cy="34747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1828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12ヶ月〜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目標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" y="26060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高槻の「地域インフラ」としてのポジションを確立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" y="3840480"/>
            <a:ext cx="3017520" cy="10058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3886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KPI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" y="4133088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月間PV 50,000以上  ／  月次収益 ¥50万以上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320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8A76"/>
                </a:solidFill>
              </a:rPr>
              <a:t>アクションリスト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731520"/>
            <a:ext cx="5394960" cy="27432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93008" y="960120"/>
            <a:ext cx="274320" cy="274320"/>
          </a:xfrm>
          <a:prstGeom prst="ellipse">
            <a:avLst/>
          </a:prstGeom>
          <a:solidFill>
            <a:srgbClr val="F0F7F4"/>
          </a:solidFill>
          <a:ln w="19050">
            <a:solidFill>
              <a:srgbClr val="1C3A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58768" y="1069848"/>
            <a:ext cx="4937760" cy="18288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8686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B1F"/>
                </a:solidFill>
              </a:rPr>
              <a:t>安満遺跡・高槻ならではの大型イベント主催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93008" y="1563624"/>
            <a:ext cx="274320" cy="274320"/>
          </a:xfrm>
          <a:prstGeom prst="ellipse">
            <a:avLst/>
          </a:prstGeom>
          <a:solidFill>
            <a:srgbClr val="F0F7F4"/>
          </a:solidFill>
          <a:ln w="19050">
            <a:solidFill>
              <a:srgbClr val="1C3A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58768" y="1673352"/>
            <a:ext cx="4937760" cy="18288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147218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B1F"/>
                </a:solidFill>
              </a:rPr>
              <a:t>子育て世代・転入者向けの定住促進コンテンツ強化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93008" y="2167128"/>
            <a:ext cx="274320" cy="274320"/>
          </a:xfrm>
          <a:prstGeom prst="ellipse">
            <a:avLst/>
          </a:prstGeom>
          <a:solidFill>
            <a:srgbClr val="F0F7F4"/>
          </a:solidFill>
          <a:ln w="19050">
            <a:solidFill>
              <a:srgbClr val="1C3A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58768" y="2276856"/>
            <a:ext cx="4937760" cy="18288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207568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B1F"/>
                </a:solidFill>
              </a:rPr>
              <a:t>「高槻に住む」をテーマにした移住促進コンテンツ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93008" y="2770632"/>
            <a:ext cx="274320" cy="274320"/>
          </a:xfrm>
          <a:prstGeom prst="ellipse">
            <a:avLst/>
          </a:prstGeom>
          <a:solidFill>
            <a:srgbClr val="F0F7F4"/>
          </a:solidFill>
          <a:ln w="19050">
            <a:solidFill>
              <a:srgbClr val="1C3A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58768" y="2880360"/>
            <a:ext cx="4937760" cy="18288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86200" y="267919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B1F"/>
                </a:solidFill>
              </a:rPr>
              <a:t>市外への展開検討（摂津・茨木・島本など近隣都市）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93008" y="3374136"/>
            <a:ext cx="274320" cy="274320"/>
          </a:xfrm>
          <a:prstGeom prst="ellipse">
            <a:avLst/>
          </a:prstGeom>
          <a:solidFill>
            <a:srgbClr val="F0F7F4"/>
          </a:solidFill>
          <a:ln w="19050">
            <a:solidFill>
              <a:srgbClr val="1C3A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58768" y="3483864"/>
            <a:ext cx="4937760" cy="18288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86200" y="328269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B1F"/>
                </a:solidFill>
              </a:rPr>
              <a:t>コミュニティ機能（掲示板・グループ）の追加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2B788"/>
                </a:solidFill>
              </a:rPr>
              <a:t>今すぐ始めること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503920" cy="27432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694944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1005840" cy="69494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1005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A2E"/>
                </a:solidFill>
              </a:rPr>
              <a:t>★★★
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C3A2E"/>
                </a:solidFill>
              </a:rPr>
              <a:t>最優先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1005840"/>
            <a:ext cx="7223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参考サイト（takatsuki.mypl.net）の徹底分析と差別化戦略の決定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801368"/>
            <a:ext cx="8412480" cy="694944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01368"/>
            <a:ext cx="1005840" cy="69494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01368"/>
            <a:ext cx="1005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A2E"/>
                </a:solidFill>
              </a:rPr>
              <a:t>★★★
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C3A2E"/>
                </a:solidFill>
              </a:rPr>
              <a:t>最優先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08760" y="1801368"/>
            <a:ext cx="7223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SNSアカウント開設（まずInstagramから）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2596896"/>
            <a:ext cx="8412480" cy="694944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96896"/>
            <a:ext cx="1005840" cy="69494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96896"/>
            <a:ext cx="1005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A2E"/>
                </a:solidFill>
              </a:rPr>
              <a:t>★★☆
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C3A2E"/>
                </a:solidFill>
              </a:rPr>
              <a:t>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08760" y="2596896"/>
            <a:ext cx="7223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知り合いの飲食店・美容院に無料掲載の声かけ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3392424"/>
            <a:ext cx="8412480" cy="694944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392424"/>
            <a:ext cx="1005840" cy="69494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392424"/>
            <a:ext cx="1005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A2E"/>
                </a:solidFill>
              </a:rPr>
              <a:t>★★☆
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C3A2E"/>
                </a:solidFill>
              </a:rPr>
              <a:t>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08760" y="3392424"/>
            <a:ext cx="7223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サイトの技術スタック・制作方法の検討（WordPress / 外注 / 自作）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4187952"/>
            <a:ext cx="8412480" cy="694944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187952"/>
            <a:ext cx="1005840" cy="694944"/>
          </a:xfrm>
          <a:prstGeom prst="rect">
            <a:avLst/>
          </a:prstGeom>
          <a:solidFill>
            <a:srgbClr val="6B8A76"/>
          </a:solidFill>
          <a:ln w="12700">
            <a:solidFill>
              <a:srgbClr val="6B8A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187952"/>
            <a:ext cx="1005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A2E"/>
                </a:solidFill>
              </a:rPr>
              <a:t>★☆☆
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C3A2E"/>
                </a:solidFill>
              </a:rPr>
              <a:t>中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08760" y="4187952"/>
            <a:ext cx="7223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地元インフルエンサーのリサーチ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6576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A76"/>
                </a:solidFill>
              </a:rPr>
              <a:t>高槻地域貢献プロジェクト ／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高槻地域貢献プロジェクト ロードマップ</dc:title>
  <dc:subject>PptxGenJS Presentation</dc:subject>
  <dc:creator>PptxGenJS</dc:creator>
  <cp:lastModifiedBy>PptxGenJS</cp:lastModifiedBy>
  <cp:revision>1</cp:revision>
  <dcterms:created xsi:type="dcterms:W3CDTF">2026-05-20T04:59:56Z</dcterms:created>
  <dcterms:modified xsi:type="dcterms:W3CDTF">2026-05-20T04:59:56Z</dcterms:modified>
</cp:coreProperties>
</file>