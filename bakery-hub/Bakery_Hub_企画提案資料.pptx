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3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6200000">
            <a:off x="411480" y="457200"/>
            <a:ext cx="228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事業企画提案資料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27432" cy="3840480"/>
          </a:xfrm>
          <a:prstGeom prst="rect">
            <a:avLst/>
          </a:prstGeom>
          <a:solidFill>
            <a:srgbClr val="7A4A2E"/>
          </a:solidFill>
          <a:ln w="12700">
            <a:solidFill>
              <a:srgbClr val="7A4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5029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</a:t>
            </a:r>
            <a:endParaRPr lang="en-US" sz="8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8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Hub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1051560" y="3520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勘に頼るパン屋経営を、データ経営へ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0" y="46863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2026年6月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</a:t>
            </a:r>
            <a:endParaRPr lang="en-US" sz="2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783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エグゼクティブサマリー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20440" y="411480"/>
            <a:ext cx="27432" cy="420624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94760" y="475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94760" y="8229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パン屋の製造量は職人の経験と勘に依存。売切れと廃棄が毎日発生し、利益を圧迫している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801368"/>
            <a:ext cx="493776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8928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解決策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2240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売上・廃棄・在庫データを一元管理し、翌日の推奨製造数を自動算出するSaaSを提供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3218688"/>
            <a:ext cx="493776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3101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提供価値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36576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廃棄ロス削減・機会損失回避により、個人経営パン屋の利益率を改善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パン屋業界の現状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「何個作れば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売り切れるか」を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計算できている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パン屋は少ない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0" y="868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6万店+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全国のパン屋・製菓店数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2468880"/>
            <a:ext cx="301752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30〜40%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69280" y="3749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廃棄・値引きが発生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する店舗の割合（推計）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0" y="868680"/>
            <a:ext cx="18288" cy="365760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調査概要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調査対象エリア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大阪府 高槻市周辺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475488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調査店舗数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5店舗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715768"/>
            <a:ext cx="475488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調査方法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Instagram調査・口コミ分析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3584448"/>
            <a:ext cx="475488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調査目的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個人経営パン屋の経営課題を特定する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4453128"/>
            <a:ext cx="475488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097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調査で見た3つの軸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600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営業スタイル・販売方法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4048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2450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在庫・廃棄の管理状況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32095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32552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集客・情報発信の手段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調査店舗一覧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10058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丹青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51560" y="1499616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996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売切れ型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499616"/>
            <a:ext cx="1815084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499616"/>
            <a:ext cx="1815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Instagram集客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64792"/>
            <a:ext cx="777240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013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サニーサイド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51560" y="2295144"/>
            <a:ext cx="681228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295144"/>
            <a:ext cx="68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多品種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4228" y="2295144"/>
            <a:ext cx="964692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4228" y="2295144"/>
            <a:ext cx="9646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長時間営業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560320"/>
            <a:ext cx="777240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426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5968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乃が美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51560" y="3090672"/>
            <a:ext cx="1248156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090672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高級食パン特化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91156" y="3090672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1156" y="3090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参考情報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355848"/>
            <a:ext cx="777240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81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392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HILL'S BAKERY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51560" y="38862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3886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地域密着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65960" y="3886200"/>
            <a:ext cx="964692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3886200"/>
            <a:ext cx="9646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常連客中心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151376"/>
            <a:ext cx="777240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336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41879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ベーカリービーチアイランド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051560" y="4681728"/>
            <a:ext cx="1815084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4681728"/>
            <a:ext cx="1815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Instagram集客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58084" y="4681728"/>
            <a:ext cx="964692" cy="228600"/>
          </a:xfrm>
          <a:prstGeom prst="roundRect">
            <a:avLst>
              <a:gd name="adj" fmla="val 16000"/>
            </a:avLst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58084" y="4681728"/>
            <a:ext cx="9646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</a:rPr>
              <a:t>短時間営業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5店舗 比較分析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737360" cy="384048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1051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1051560"/>
            <a:ext cx="2194560" cy="384048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13432" y="10515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営業スタイル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051560"/>
            <a:ext cx="1463040" cy="384048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0515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主な集客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1051560"/>
            <a:ext cx="2651760" cy="384048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71032" y="1051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主な課題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43560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43560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丹青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143560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14356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売切れ型・昼完売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4356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14356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Instagram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435608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143560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製造数不足・欠品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19656"/>
            <a:ext cx="173736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181965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サニーサイド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40280" y="1819656"/>
            <a:ext cx="219456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13432" y="18196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多品種・長時間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1819656"/>
            <a:ext cx="146304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181965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口コミ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1819656"/>
            <a:ext cx="265176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1032" y="181965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在庫複雑・廃棄ロス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203704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220370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乃が美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40280" y="220370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220370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高級食パン特化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34840" y="220370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220370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ブランド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2203704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1032" y="22037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参考情報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2587752"/>
            <a:ext cx="173736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258775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HILL'S BAKERY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40280" y="2587752"/>
            <a:ext cx="219456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3432" y="258775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地域密着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34840" y="2587752"/>
            <a:ext cx="146304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07992" y="258775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常連客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2587752"/>
            <a:ext cx="2651760" cy="384048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71032" y="25877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売上予測が経験依存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" y="297180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29718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ビーチアイランド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40280" y="297180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13432" y="297180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短時間営業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34840" y="297180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7992" y="29718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Instagram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97880" y="2971800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71032" y="29718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来店予測困難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全店舗に共通 → 製造量の根拠がない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調査で発見した 共通課題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売切れ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0" y="1783080"/>
            <a:ext cx="274320" cy="5486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7048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32A"/>
                </a:solidFill>
              </a:rPr>
              <a:t>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機会損失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36392" y="1005840"/>
            <a:ext cx="18288" cy="228600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廃棄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274320" cy="5486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32A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利益低下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71032" y="1005840"/>
            <a:ext cx="18288" cy="228600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製造量を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経験で決定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315200" y="1783080"/>
            <a:ext cx="274320" cy="5486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32A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根拠なし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822960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576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これらは全て「製造量が正確に決められない」という一点に起因している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なぜ製造量が決められないのか？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データが存在しない / バラバラに管理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売上・廃棄・在庫が一元管理されていない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167128"/>
            <a:ext cx="4846320" cy="566928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明日の製造数が決められない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444752"/>
            <a:ext cx="18288" cy="192024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現場の実態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45720" cy="38404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8132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Excelや手書きで管理 → 集計に時間がかかる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2350008"/>
            <a:ext cx="45720" cy="38404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32257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昨日の感覚で今日の製造数を決める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23560" y="3191256"/>
            <a:ext cx="45720" cy="38404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1638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売切れ・廃棄のデータが残らない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B3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本質課題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138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「明日、どの商品を
何個作ればよいか、
</a:t>
            </a:r>
            <a:pPr algn="l" indent="0" marL="0">
              <a:buNone/>
            </a:pPr>
            <a:r>
              <a:rPr lang="en-US" sz="44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わからない」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" y="3886200"/>
            <a:ext cx="8229600" cy="18288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023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売切れも廃棄も、その根本は「製造量の不確かさ」にある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ターゲット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個人経営</a:t>
            </a:r>
            <a:endParaRPr lang="en-US" sz="56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パン屋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製造量を経験と勘で決めている店舗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18288" cy="320040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従業員数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2984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5〜15名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365760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23500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1〜3店舗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0" y="2971800"/>
            <a:ext cx="365760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販売スタイル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340156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予約販売なし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5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田中 誠 さん（仮）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45歳 / 大阪府 / パン屋オーナー歴15年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課題・悩み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450592"/>
            <a:ext cx="45720" cy="41148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毎朝、製造数を感覚で決めていてストレスを感じる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45720" cy="41148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815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夕方に売れ残ったパンを捨てるたびに罪悪感がある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67328"/>
            <a:ext cx="45720" cy="41148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売切れで帰るお客様を見るたびに悔しい思いをする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0"/>
            <a:ext cx="4434840" cy="5143500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「感覚で決めた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製造数が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毎日外れる」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92040" y="39319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パン屋オーナーの共通の声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3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 とは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勘に頼るパン屋経営を、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データ経営へ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60720" y="502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55080" y="502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データ一元管理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5080" y="941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売上・廃棄・在庫を一つの画面で把握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3108960" cy="18288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需要予測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2359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曜日・時間帯から翌日の需要を算出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880360"/>
            <a:ext cx="3108960" cy="18288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337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製造計画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37764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推奨製造数をそのまま製造指示に変換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411480"/>
            <a:ext cx="18288" cy="4206240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どう解決するか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データ収集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2542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売上・廃棄・在庫を毎日入力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40280" y="1463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DD4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56032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542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曜日・時間帯・商品別のパターンを自動学習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463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DD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DD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70916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542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翌日の推奨製造数を商品別に表示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1463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DD4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85800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製造計画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542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そのまま明日の製造指示として活用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749040"/>
            <a:ext cx="832104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入力は1日5分。朝には製造計画が自動で出来上がっている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MVP機能一覧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0515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商品別売上分析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4088" y="13990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どの商品が売れているかを可視化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4088" y="1764792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57400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47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曜日別分析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22951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曜日ごとの売上トレンドを把握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660904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953512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8437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時間帯別分析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31912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ピーク時間帯を特定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3557016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49624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7398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売切れ分析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40873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機会損失の大きい商品を特定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" y="4453128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161288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0515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廃棄分析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13990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無駄の多い商品・時間帯を把握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47488" y="1764792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057400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947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製造計画管理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47488" y="22951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推奨製造数の表示と調整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47488" y="2660904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953512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8437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ダッシュボード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31912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経営状況をワンビューで確認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47488" y="3557016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849624"/>
            <a:ext cx="109728" cy="10972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7398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在庫管理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47488" y="40873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リアルタイムの在庫状況把握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47488" y="4453128"/>
            <a:ext cx="3931920" cy="1371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1005840"/>
            <a:ext cx="18288" cy="347472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画面イメージ  —  ダッシュボード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7772400" cy="3566160"/>
          </a:xfrm>
          <a:prstGeom prst="rect">
            <a:avLst/>
          </a:prstGeom>
          <a:solidFill>
            <a:srgbClr val="F4EFE9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7772400" cy="365760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8813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Bakery Hub  —  ダッシュボード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45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本日の売上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3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¥48,200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45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廃棄数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3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23560" y="150876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545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売切れ商品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3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2313432"/>
            <a:ext cx="7406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時間帯別売上グラフ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2862072"/>
            <a:ext cx="411480" cy="192024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734056"/>
            <a:ext cx="411480" cy="320040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542032"/>
            <a:ext cx="411480" cy="512064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414016"/>
            <a:ext cx="411480" cy="640080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478024"/>
            <a:ext cx="411480" cy="576072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670048"/>
            <a:ext cx="411480" cy="384048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2798064"/>
            <a:ext cx="411480" cy="256032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474720"/>
            <a:ext cx="7406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明日の推奨製造数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7764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クロワッサン  45個  /  食パン  20個  /  メロンパン  30個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Bakery Hub が必要か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2011680" cy="438912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14600" y="1024128"/>
            <a:ext cx="2926080" cy="438912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6040" y="10241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既存の方法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40680" y="1024128"/>
            <a:ext cx="2926080" cy="438912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10241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データ管理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463040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3333"/>
                </a:solidFill>
              </a:rPr>
              <a:t>Excel・手書き（バラバラ）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40680" y="1463040"/>
            <a:ext cx="2926080" cy="438912"/>
          </a:xfrm>
          <a:prstGeom prst="rect">
            <a:avLst/>
          </a:prstGeom>
          <a:solidFill>
            <a:srgbClr val="F0F5F0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463040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6B3F"/>
                </a:solidFill>
              </a:rPr>
              <a:t>一元管理・自動集計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1901952"/>
            <a:ext cx="2011680" cy="438912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90195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製造量決定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901952"/>
            <a:ext cx="2926080" cy="438912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901952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3333"/>
                </a:solidFill>
              </a:rPr>
              <a:t>経験と勘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0680" y="1901952"/>
            <a:ext cx="2926080" cy="438912"/>
          </a:xfrm>
          <a:prstGeom prst="rect">
            <a:avLst/>
          </a:prstGeom>
          <a:solidFill>
            <a:srgbClr val="F0F5F0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901952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6B3F"/>
                </a:solidFill>
              </a:rPr>
              <a:t>データに基づく推奨値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2340864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408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廃棄・売切れ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2340864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340864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3333"/>
                </a:solidFill>
              </a:rPr>
              <a:t>気づいたら手遅れ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40680" y="2340864"/>
            <a:ext cx="2926080" cy="438912"/>
          </a:xfrm>
          <a:prstGeom prst="rect">
            <a:avLst/>
          </a:prstGeom>
          <a:solidFill>
            <a:srgbClr val="F0F5F0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340864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6B3F"/>
                </a:solidFill>
              </a:rPr>
              <a:t>翌日の予測で事前対策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2779776"/>
            <a:ext cx="2011680" cy="438912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7797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分析工数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2779776"/>
            <a:ext cx="2926080" cy="438912"/>
          </a:xfrm>
          <a:prstGeom prst="rect">
            <a:avLst/>
          </a:prstGeom>
          <a:solidFill>
            <a:srgbClr val="F4EFE9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2779776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3333"/>
                </a:solidFill>
              </a:rPr>
              <a:t>毎日手作業（1〜2時間）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2779776"/>
            <a:ext cx="2926080" cy="438912"/>
          </a:xfrm>
          <a:prstGeom prst="rect">
            <a:avLst/>
          </a:prstGeom>
          <a:solidFill>
            <a:srgbClr val="F0F5F0"/>
          </a:solidFill>
          <a:ln w="6350">
            <a:solidFill>
              <a:srgbClr val="E8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779776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6B3F"/>
                </a:solidFill>
              </a:rPr>
              <a:t>自動・ゼロ工数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822960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965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単なる在庫管理ではなく、需要予測 x 製造計画 x 廃棄削減を一体で解決する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料金モデル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490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3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¥2,980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350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/ 月（税込）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201168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  ダッシュボード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  商品別売上分析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02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  曜日別分析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743200" cy="3749040"/>
          </a:xfrm>
          <a:prstGeom prst="rect">
            <a:avLst/>
          </a:prstGeom>
          <a:solidFill>
            <a:srgbClr val="6B3F24"/>
          </a:solidFill>
          <a:ln w="12700">
            <a:solidFill>
              <a:srgbClr val="6B3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05840"/>
            <a:ext cx="2743200" cy="73152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主力プラン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895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¥4,980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291840" y="2596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99A"/>
                </a:solidFill>
              </a:rPr>
              <a:t>/ 月（税込）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944368"/>
            <a:ext cx="2011680" cy="18288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081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B99A"/>
                </a:solidFill>
              </a:rPr>
              <a:t>  ライトの全機能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465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B99A"/>
                </a:solidFill>
              </a:rPr>
              <a:t>  時間帯別分析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B99A"/>
                </a:solidFill>
              </a:rPr>
              <a:t>  売切れ・廃棄分析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233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B99A"/>
                </a:solidFill>
              </a:rPr>
              <a:t>  製造計画管理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490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3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¥7,980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6172200" y="2350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/ 月（税込）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2697480"/>
            <a:ext cx="2011680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  スタンダードの全機能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  多店舗対応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602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  スタッフ管理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9867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  CSVエクスポート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開発ロードマップ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847088"/>
            <a:ext cx="8138160" cy="36576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719072"/>
            <a:ext cx="274320" cy="274320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〜2026年Q3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・ 売上・廃棄入力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・ 曜日別分析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・ ダッシュボード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719072"/>
            <a:ext cx="274320" cy="274320"/>
          </a:xfrm>
          <a:prstGeom prst="ellipse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需要予測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〜2026年Q4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製造推奨数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時間帯分析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売切れ分析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1719072"/>
            <a:ext cx="274320" cy="274320"/>
          </a:xfrm>
          <a:prstGeom prst="ellipse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拡張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〜2027年Q1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多店舗対応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スタッフ管理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API連携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43800" y="1719072"/>
            <a:ext cx="274320" cy="274320"/>
          </a:xfrm>
          <a:prstGeom prst="ellipse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スケール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228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〜2027年Q3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AI予測強化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POSレジ連携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・ 全国展開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 導入で期待できる効果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最大</a:t>
            </a:r>
            <a:endParaRPr lang="en-US" sz="4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2724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廃棄ロス削減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データに基づく製造数で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不要な廃棄を削減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18288" cy="292608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058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欠品</a:t>
            </a:r>
            <a:endParaRPr lang="en-US" sz="4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ゼロへ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724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売上機会の最大化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3154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需要予測で売切れによる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機会損失を防止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18288" cy="2926080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0058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1日</a:t>
            </a:r>
            <a:endParaRPr lang="en-US" sz="4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E883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5分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63640" y="2724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3F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管理工数の削減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3154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自動集計・分析で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オーナーの時間を解放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※数値は試算・参考値です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6B3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</a:t>
            </a:r>
            <a:endParaRPr lang="en-US" sz="88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Hub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勘に頼るパン屋経営を、データ経営へ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17920" y="0"/>
            <a:ext cx="27432" cy="5143500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5486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需要予測 x 製造計画 x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廃棄削減を一体で解決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46520" y="1892808"/>
            <a:ext cx="2423160" cy="18288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9659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個人経営パン屋に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特化した専用SaaS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3310128"/>
            <a:ext cx="2423160" cy="18288"/>
          </a:xfrm>
          <a:prstGeom prst="rect">
            <a:avLst/>
          </a:prstGeom>
          <a:solidFill>
            <a:srgbClr val="5A3520"/>
          </a:solidFill>
          <a:ln w="12700">
            <a:solidFill>
              <a:srgbClr val="5A3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383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月額4,980円から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4B9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始められる低リスク導入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83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一緒に、データで動くパン屋をつくりましょう。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956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Bakery Hub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Bakery Hub 企画提案資料</dc:title>
  <dc:subject>PptxGenJS Presentation</dc:subject>
  <dc:creator>PptxGenJS</dc:creator>
  <cp:lastModifiedBy>PptxGenJS</cp:lastModifiedBy>
  <cp:revision>1</cp:revision>
  <dcterms:created xsi:type="dcterms:W3CDTF">2026-06-07T07:58:53Z</dcterms:created>
  <dcterms:modified xsi:type="dcterms:W3CDTF">2026-06-07T07:58:53Z</dcterms:modified>
</cp:coreProperties>
</file>